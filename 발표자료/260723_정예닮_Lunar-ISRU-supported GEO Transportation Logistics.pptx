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  <p:sldMasterId id="2147483648" r:id="rId2"/>
  </p:sldMasterIdLst>
  <p:notesMasterIdLst>
    <p:notesMasterId r:id="rId32"/>
  </p:notesMasterIdLst>
  <p:handoutMasterIdLst>
    <p:handoutMasterId r:id="rId33"/>
  </p:handoutMasterIdLst>
  <p:sldIdLst>
    <p:sldId id="354" r:id="rId3"/>
    <p:sldId id="356" r:id="rId4"/>
    <p:sldId id="360" r:id="rId5"/>
    <p:sldId id="382" r:id="rId6"/>
    <p:sldId id="373" r:id="rId7"/>
    <p:sldId id="392" r:id="rId8"/>
    <p:sldId id="391" r:id="rId9"/>
    <p:sldId id="374" r:id="rId10"/>
    <p:sldId id="362" r:id="rId11"/>
    <p:sldId id="388" r:id="rId12"/>
    <p:sldId id="395" r:id="rId13"/>
    <p:sldId id="363" r:id="rId14"/>
    <p:sldId id="365" r:id="rId15"/>
    <p:sldId id="364" r:id="rId16"/>
    <p:sldId id="371" r:id="rId17"/>
    <p:sldId id="384" r:id="rId18"/>
    <p:sldId id="380" r:id="rId19"/>
    <p:sldId id="381" r:id="rId20"/>
    <p:sldId id="383" r:id="rId21"/>
    <p:sldId id="396" r:id="rId22"/>
    <p:sldId id="367" r:id="rId23"/>
    <p:sldId id="386" r:id="rId24"/>
    <p:sldId id="397" r:id="rId25"/>
    <p:sldId id="389" r:id="rId26"/>
    <p:sldId id="393" r:id="rId27"/>
    <p:sldId id="394" r:id="rId28"/>
    <p:sldId id="368" r:id="rId29"/>
    <p:sldId id="370" r:id="rId30"/>
    <p:sldId id="358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I Theme v1 (w/o date)" id="{3AE592ED-38D9-4C39-A100-461E998CAB72}">
          <p14:sldIdLst>
            <p14:sldId id="354"/>
            <p14:sldId id="356"/>
            <p14:sldId id="360"/>
            <p14:sldId id="382"/>
            <p14:sldId id="373"/>
            <p14:sldId id="392"/>
            <p14:sldId id="391"/>
            <p14:sldId id="374"/>
            <p14:sldId id="362"/>
            <p14:sldId id="388"/>
            <p14:sldId id="395"/>
            <p14:sldId id="363"/>
            <p14:sldId id="365"/>
            <p14:sldId id="364"/>
            <p14:sldId id="371"/>
            <p14:sldId id="384"/>
            <p14:sldId id="380"/>
            <p14:sldId id="381"/>
            <p14:sldId id="383"/>
            <p14:sldId id="396"/>
            <p14:sldId id="367"/>
            <p14:sldId id="386"/>
            <p14:sldId id="397"/>
            <p14:sldId id="389"/>
            <p14:sldId id="393"/>
            <p14:sldId id="394"/>
            <p14:sldId id="368"/>
            <p14:sldId id="370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예닮 정" initials="예정" lastIdx="3" clrIdx="0">
    <p:extLst>
      <p:ext uri="{19B8F6BF-5375-455C-9EA6-DF929625EA0E}">
        <p15:presenceInfo xmlns:p15="http://schemas.microsoft.com/office/powerpoint/2012/main" userId="5129419fdf8419e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A6A8"/>
    <a:srgbClr val="181D25"/>
    <a:srgbClr val="C59000"/>
    <a:srgbClr val="FFC000"/>
    <a:srgbClr val="C1B3D1"/>
    <a:srgbClr val="A38FBB"/>
    <a:srgbClr val="8D75AB"/>
    <a:srgbClr val="876DA7"/>
    <a:srgbClr val="765B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85461" autoAdjust="0"/>
  </p:normalViewPr>
  <p:slideViewPr>
    <p:cSldViewPr showGuides="1">
      <p:cViewPr>
        <p:scale>
          <a:sx n="100" d="100"/>
          <a:sy n="100" d="100"/>
        </p:scale>
        <p:origin x="1224" y="3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353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8T19:28:15.783" idx="3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7-18T19:28:15.783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9BA-39F3-42D0-86B3-A599441C5156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AA17DD-B92A-4705-B818-1FA8C05A4E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6227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3CB15-66B4-4240-9BC1-A2E70A2670D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89521-69D0-497A-A60A-80E76340E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6357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안녕하세요 이번주 랩세미나를 맡게 된 석사과정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정예닮입니다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064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392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지금 우주에서 이루어지는 모든 수송은 하나의 공급원 지구에 의존하고 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위성을 올리든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달에 가든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화성에 가든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페이로드와 추진제는 전부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전부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지구 표면에서 발사해서 가져갑니다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 구조에 대안이 제시되어 왔습니다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i="1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다른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행성의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자원을 현지에서 활용하는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ISRU, In-Situ Resource Utilization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만약 달이나 행성에서 자원을 만들 수 있다면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추가적인 공급 노드가 물류방에 생길 수 있는 것입니다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저는 이 두 번째 공급 노드가 어떤 영향을 가져오는지를 보려고 합니다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269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특히 달에선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엑체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수소 기반 추진제를 만들 수 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달 극지방의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영구음영지역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PSR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에는 물 얼음이 상당량 존재한다는 게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확인되어있습니다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 물을 얻고 사용하기 위한 다양한 방법들이 제시되고 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 얼음을 포함한 표토에서 물을 추출하는 공정이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SWE, Soil Water Extraction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이고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추출된 물을 전기분해해서 수소와 산소로 나누는 공정이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DWE, Direct Water Electrolysis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입니다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 둘을 거치면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LH2/LOX,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즉 액체수소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액체산소 추진제가 나옵니다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표토에서 물을 추출해내는 방법으로는 기계적인 장비의 힘을 빌리는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엑티브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마이닝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열을 통해 얼음을 증발시키고 수중기를 추출하는 등의 패시브 마이닝 혹은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thermal mining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있스빈다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물을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전기분해하면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질량비로 수소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대 산소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 나오는데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실제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엑체수소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엔진은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5.5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대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의 비율로 연소하기 때문에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물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3kg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에서 실제로 쓸 수 있는 추진제는 약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2kg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이고 산소가 남게 됩니다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431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그런데 왜 굳이 귀찮고 어렵게 달에서 만들어야 하느냐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지구에서 올리면 되지 않느냐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라는 생각을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하실수도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우주에서 거리는 킬로미터가 아니라 </a:t>
            </a:r>
            <a:r>
              <a:rPr lang="en-US" altLang="ko-K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Δv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속도 변화량으로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판단하는게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더 의미가 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지구 표면에서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GEO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까지 물자를 보내려면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매우 높은 델타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가 요구됩니다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반면 달 표면에서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GEO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까지는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상대적으로 적은 델타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로 갈 수 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물론 달에서 추진제를 가져오기 위해선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ISRU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공장이나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스토리지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등의 인프라가 설치되어야 하며 물자를 옮길 우주선 또한 제작되어야 합니다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따라 여러 고정 비용이 발생합니다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18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Blair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년에 </a:t>
            </a:r>
            <a:r>
              <a:rPr lang="en-US" altLang="ko-KR" dirty="0"/>
              <a:t>150</a:t>
            </a:r>
            <a:r>
              <a:rPr lang="ko-KR" altLang="en-US" dirty="0"/>
              <a:t>톤</a:t>
            </a:r>
            <a:endParaRPr lang="en-US" altLang="ko-KR" dirty="0"/>
          </a:p>
          <a:p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이러한 점을 고려하여 달에서 추진제를 생산해서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사용하는것이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효율적인지를 분석한 연구는 꽤 오래 전부터 진행되었습니다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과거의 논문들은 특정한 시나리오와 시설을 정의하고 재무모델을 만들어 경제성 분석을 하였습니다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Blair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의 논문은 달 얼음으로 추진제를 만들어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EML1 depot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에 저장하고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LEO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에서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GEO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로 가는 수송 서비스를 판다는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end-to-end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비즈니스 케이스를 제시하였습니다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과거엔 미래의 기술 수준이나 달의 상황을 정확히 알지 못하여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미래의 다양한 상황을 가정하여 여러 시나리오에 따른 경제성 분석을 실시했습니다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여기에는 정부가 시설을 지어주는 케이스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발사체 비용 감소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GEO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수요 증가 를 더불어 달 물 밀도 등 다양한 상황이 포함되었습니다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직관적이게 설치 비용이 적어지는 시나리오일수록 경제성이 올라가는 결과를 가져왔으나 한편 발사체 비용이 감소할수록 설치 비용도 감소하지만 모든 연료를 지구에서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보급하는게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더 경제적이라는 결론을 가져왔습니다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전체적인 상황으로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봤을때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달의 경제성이 있다고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결론남</a:t>
            </a:r>
            <a:endParaRPr lang="en-US" altLang="ko-K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다음 </a:t>
            </a:r>
            <a:r>
              <a:rPr lang="en-US" altLang="ko-K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Charania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와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DePasquale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의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2007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년 연구는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ISRU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플랜트와 차량을 고정된 설계로 두고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LEO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에서의 연료 손익분기 판매가를 역산했습니다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결론은 지구 제조 대비 경제성이 없다는 결론이 나왔습니다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182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Bennett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100t</a:t>
            </a:r>
            <a:r>
              <a:rPr lang="ko-KR" altLang="en-US" dirty="0"/>
              <a:t>의 페이로드 수요 가정</a:t>
            </a:r>
            <a:endParaRPr lang="en-US" altLang="ko-KR" dirty="0"/>
          </a:p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2019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년 </a:t>
            </a:r>
            <a:r>
              <a:rPr lang="en-US" altLang="ko-K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Kornuta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의 연구에서는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달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ISRU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의 기술적인 가능성을 분석하고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역시 궤도에 추진제를 파는 사업의 경제성 분석을 실시했습니다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다른 논문들과 다르게 시나리오를 고객 노드에 따라 만들고 재무분석을 하였고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결과를 보면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LEO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에서만 추진제 파는 모델은 취약하지만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달 표면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궤도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LEO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까지 여러 고객을 함께 확보하면 상업적으로 타당해집니다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Bennett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과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Dempster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의 </a:t>
            </a:r>
            <a:r>
              <a:rPr lang="en-US" altLang="ko-K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Kornuta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연구를 바탕으로 시장 자체를 바꿔봤습니다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LEO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에서 추진제를 파는 대신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GTO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에 있는 위성에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임펄스를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파는 겁니다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보통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GEO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위성은 발사체가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GTO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까지만 올려주고 마지막 궤도 상승은 위성이 자체 연료로 하는데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orbit raising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을 달 추진제 기반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OTV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서비스로 대신해주는 거죠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Bennett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은 같은 생산량으로 매출이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LEO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시장 대비 두 배 이상 나온다고 주장했습니다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논문들의 내용을 요약하면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어떤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구조냐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상황이냐에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따라 경제성이 크게 바뀐다는 점 입니다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844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Charis SIL"/>
              </a:rPr>
              <a:t>The goal of this paper is not to analyze architectures but only to study the economic feasibility of lunar resources using the simplest cases.</a:t>
            </a:r>
          </a:p>
          <a:p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Metzger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의 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2023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년 연구는 시간 축을 길게 잡았습니다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규모의 경제 관점에서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경쟁력을 분석합니다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 연구에서 결정 변수를 두 개로 압축되어 하나는 수송 비용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다른 하나는 장비 단위질량당 추진제 생산량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즉 생산 효율입니다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달에서 추진제를 만드는 비용은 </a:t>
            </a:r>
            <a:r>
              <a:rPr lang="en-US" altLang="ko-KR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Cls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로 인프라 제작 비용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운반 비용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운송 비용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금융비용에 총 제작된 추진제를 나누어 정의됩니다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다른 궤도 노드에서 추진제의 가격은 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cx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로 달에서의 추진제 가격에 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gear ratio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즉 달에서 해당 궤도로 </a:t>
            </a:r>
            <a:r>
              <a:rPr lang="ko-KR" alt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가기위해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소모된 연료양을 곱하여 정의됩니다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장기적인 관점에서 발사 수요는 다음과 같이 </a:t>
            </a:r>
            <a:r>
              <a:rPr lang="ko-KR" alt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지수스케일로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증가한다고 보았고 라이트의 법칙에 따라 발사비를 다음과 같이 추정하였습니다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이외에도 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ISRU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생산효율이나 기타 제작비 등에 모두 규모의 경제를 도입하여 미래의 코스트를 예측하였습니다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오른쪽의 그래프를 보면 </a:t>
            </a:r>
            <a:r>
              <a:rPr lang="ko-KR" alt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한축이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인 것을 알 수 있는데 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가 커짐에 따라 발사비가 내려가고 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ISRU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생산 </a:t>
            </a:r>
            <a:r>
              <a:rPr lang="ko-KR" alt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효율등이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올라갑니다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 두 변수의 평면에서 경쟁력 영역을 그려보면 </a:t>
            </a:r>
            <a:r>
              <a:rPr lang="ko-KR" altLang="en-US" sz="1800" b="0" i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sz="1800" b="0" i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800" b="0" i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그림 가리키며</a:t>
            </a:r>
            <a:r>
              <a:rPr lang="en-US" altLang="ko-KR" sz="1800" b="0" i="1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)*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생산 효율이 특정 </a:t>
            </a:r>
            <a:r>
              <a:rPr lang="ko-KR" alt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임계값을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넘는 순간 지구 발사비가 아무리 내려가도 달 추진제가 경쟁력을 유지하는 영역이 존재합니다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기존의 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Blair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는 발사비용이 낮아지면 달 활용이 비경제적이라고 하였지만 이게 조건부라는 걸 보여준 셈입니다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아래 그래프는 기존 선행연구에서 제시된 다양한 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ISRU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모델들에 대해 시간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생산효율 비를 의미합니다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Y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축의 프사이는 달에서 생산한 추진제 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1kg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의 가격을 지구에서 추진제 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1kg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를 가져오는데 드는 비용으로 나눈 값 입니다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그래프를 보면 </a:t>
            </a:r>
            <a:r>
              <a:rPr lang="ko-KR" alt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알수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있듯이 시간이 증가하며 발사비가 낮아지니 분모가 작아지지만 시설 운반비가 감소하며 생산 효율도 증가하여 분자가 작아지는 영향이 더 커 프사이가 점차 감소하는 것을 알 수 있습니다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그래프의 수직선이 각 궤도에서 연료를 </a:t>
            </a:r>
            <a:r>
              <a:rPr lang="ko-KR" alt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살때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지구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달 비용 우위가 발생하는 점 입니다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따라 모든 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ISRU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모델에서 특정 기간만 넘기면 달이 경제적이다 라는 결론을 가져왔습니다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en-US" altLang="ko-KR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이외에도 특정 생산효율을 넘으면 발사비가 감소해도 달이 </a:t>
            </a:r>
            <a:r>
              <a:rPr lang="ko-KR" alt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효율적이게됨</a:t>
            </a:r>
            <a:endParaRPr lang="en-US" altLang="ko-KR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여기까지의 </a:t>
            </a:r>
            <a:r>
              <a:rPr lang="ko-KR" alt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연구들에는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공통점이 하나 있습니다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전부 아키텍처를 먼저 고정해 놓고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그 위에서 재무 분석을 했다는 점입니다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ko-KR" alt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아키텍쳐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자체에 대한 분석 및 최적화나 물류를 </a:t>
            </a:r>
            <a:r>
              <a:rPr lang="ko-KR" altLang="en-US" sz="18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고려하는것</a:t>
            </a:r>
            <a:r>
              <a:rPr lang="ko-KR" altLang="en-US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보단 경제적인 관점에서 분석을 하였습니다</a:t>
            </a:r>
            <a:r>
              <a:rPr lang="en-US" altLang="ko-KR" sz="1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Charis SIL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334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Hao </a:t>
            </a:r>
            <a:r>
              <a:rPr lang="en-US" altLang="ko-K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chen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교수님과 </a:t>
            </a:r>
            <a:r>
              <a:rPr lang="en-US" altLang="ko-K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koki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ho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교수님 그룹에서는 이전부터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인터플레네터리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우주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로지스틱스를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분석할때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time-expanded network,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즉 공간 네트워크를 시간 축으로 펼친 그래프 위에서 멀티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코모디티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네트워크 플로우를 활용해왔습니다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그중 작년에 나온 </a:t>
            </a:r>
            <a:r>
              <a:rPr lang="en-US" altLang="ko-KR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Gkaravela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의 연구는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ISRU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시설을 달 표면 한 곳에 모으는 집중형과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시스루나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여러 노드에 분산하는 분산형 아키텍처를 비교합니다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 ISRU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시설 사이징에는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piecewise-concave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한 규모의 경제 모델을 넣었고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ISRU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시스템은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SWE, DWE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로 단순화하였습니다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미션 시나리오를 보시면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GEO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와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EML1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의 산소 수요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달 표면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payload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수요처럼 자원 수요를 충족하는 것이 목적입니다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986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사실 여러 논문을 구현해보고 응용해보다가 최근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TEN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을 구현해보고 있었는데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이걸 어떤 상황에 적용해보면 재밌을까 생각해보다가 우주 수송 서비스에 달을 활용하는 것에 대한 경제성 분석을 이걸로 해볼 수 있지 않을까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?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생각이 들어 처음 연구를 시작했습니다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그래서 제 연구 </a:t>
            </a:r>
            <a:r>
              <a:rPr lang="ko-KR" alt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실문은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달 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ISRU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는 궤도 운송 비용을 어떤 수요밀도와 비용 조건에서 낮출 수 있을까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? </a:t>
            </a:r>
            <a:r>
              <a:rPr lang="ko-KR" alt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와 이를 위한 수송 물류 전체 최적화로 설정했습니다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406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지금 우주 시장에는 </a:t>
            </a:r>
            <a:r>
              <a:rPr lang="en-US" altLang="ko-KR" dirty="0"/>
              <a:t>orbital transfer vehicle, OTV</a:t>
            </a:r>
            <a:r>
              <a:rPr lang="ko-KR" altLang="en-US" dirty="0"/>
              <a:t>라는 개념이 많이 제시되고 있습니다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Impulse space</a:t>
            </a:r>
            <a:r>
              <a:rPr lang="ko-KR" altLang="en-US" dirty="0"/>
              <a:t>의 헬리오스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 err="1"/>
              <a:t>블루오리진의</a:t>
            </a:r>
            <a:r>
              <a:rPr lang="ko-KR" altLang="en-US" dirty="0"/>
              <a:t> </a:t>
            </a:r>
            <a:r>
              <a:rPr lang="ko-KR" altLang="en-US" dirty="0" err="1"/>
              <a:t>블루링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D orbit</a:t>
            </a:r>
            <a:r>
              <a:rPr lang="ko-KR" altLang="en-US" dirty="0"/>
              <a:t>의 </a:t>
            </a:r>
            <a:r>
              <a:rPr lang="en-US" altLang="ko-KR" dirty="0"/>
              <a:t>ion(</a:t>
            </a:r>
            <a:r>
              <a:rPr lang="ko-KR" altLang="en-US" dirty="0"/>
              <a:t>전기추진</a:t>
            </a:r>
            <a:r>
              <a:rPr lang="en-US" altLang="ko-KR" dirty="0"/>
              <a:t>)</a:t>
            </a:r>
          </a:p>
          <a:p>
            <a:pPr marL="228600" indent="-228600">
              <a:buAutoNum type="arabicPeriod"/>
            </a:pPr>
            <a:r>
              <a:rPr lang="en-US" altLang="ko-KR" dirty="0"/>
              <a:t>Argo space</a:t>
            </a:r>
            <a:r>
              <a:rPr lang="ko-KR" altLang="en-US" dirty="0"/>
              <a:t>의 </a:t>
            </a:r>
            <a:r>
              <a:rPr lang="en-US" altLang="ko-KR" b="0" i="0" dirty="0">
                <a:solidFill>
                  <a:srgbClr val="FFFFFF"/>
                </a:solidFill>
                <a:effectLst/>
                <a:latin typeface="Montserrat" panose="020B0604020202020204" pitchFamily="2" charset="0"/>
              </a:rPr>
              <a:t>Freighter </a:t>
            </a:r>
            <a:r>
              <a:rPr lang="ko-KR" altLang="en-US" b="0" i="0" dirty="0" err="1">
                <a:solidFill>
                  <a:srgbClr val="FFFFFF"/>
                </a:solidFill>
                <a:effectLst/>
                <a:latin typeface="Montserrat" panose="020B0604020202020204" pitchFamily="2" charset="0"/>
              </a:rPr>
              <a:t>프레이터</a:t>
            </a:r>
            <a:endParaRPr lang="en-US" altLang="ko-KR" b="0" i="0" dirty="0">
              <a:solidFill>
                <a:srgbClr val="FFFFFF"/>
              </a:solidFill>
              <a:effectLst/>
              <a:latin typeface="Montserrat" panose="020B0604020202020204" pitchFamily="2" charset="0"/>
            </a:endParaRPr>
          </a:p>
          <a:p>
            <a:pPr marL="228600" indent="-228600">
              <a:buAutoNum type="arabicPeriod"/>
            </a:pPr>
            <a:r>
              <a:rPr lang="en-US" altLang="ko-KR" dirty="0"/>
              <a:t>Firefly</a:t>
            </a:r>
            <a:r>
              <a:rPr lang="ko-KR" altLang="en-US" dirty="0"/>
              <a:t>의 엘리트라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이번 제 연구에서는 </a:t>
            </a:r>
            <a:r>
              <a:rPr lang="en-US" altLang="ko-KR" dirty="0"/>
              <a:t>reusable OTV</a:t>
            </a:r>
            <a:r>
              <a:rPr lang="ko-KR" altLang="en-US" dirty="0"/>
              <a:t>들이 임무를 수행할 때 지구 뿐만 아니라 달 연료도 활용할 수 있다고 </a:t>
            </a:r>
            <a:r>
              <a:rPr lang="ko-KR" altLang="en-US" dirty="0" err="1"/>
              <a:t>하였을때</a:t>
            </a:r>
            <a:r>
              <a:rPr lang="en-US" altLang="ko-KR" dirty="0"/>
              <a:t>, </a:t>
            </a:r>
            <a:r>
              <a:rPr lang="ko-KR" altLang="en-US" dirty="0" err="1"/>
              <a:t>로지스틱스가</a:t>
            </a:r>
            <a:r>
              <a:rPr lang="ko-KR" altLang="en-US" dirty="0"/>
              <a:t> 어떻게 바뀌는지를 </a:t>
            </a:r>
            <a:r>
              <a:rPr lang="ko-KR" altLang="en-US" dirty="0" err="1"/>
              <a:t>봐보려고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918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발표에서는 간단하게 </a:t>
            </a:r>
            <a:r>
              <a:rPr lang="en-US" altLang="ko-KR" dirty="0"/>
              <a:t>GEO</a:t>
            </a:r>
            <a:r>
              <a:rPr lang="ko-KR" altLang="en-US" dirty="0"/>
              <a:t>로 매년 일정한 페이로드 수요가 발생한다고 가정했습니다</a:t>
            </a:r>
            <a:r>
              <a:rPr lang="en-US" altLang="ko-KR" dirty="0"/>
              <a:t>. GEO</a:t>
            </a:r>
            <a:r>
              <a:rPr lang="ko-KR" altLang="en-US" dirty="0"/>
              <a:t>는 선행연구에서도 주로 다룬 상황이기도 하고</a:t>
            </a:r>
            <a:r>
              <a:rPr lang="en-US" altLang="ko-KR" dirty="0"/>
              <a:t> </a:t>
            </a:r>
            <a:r>
              <a:rPr lang="ko-KR" altLang="en-US" dirty="0"/>
              <a:t>달 추진제 공급이 유리할 정도로 먼 궤도이면서도 다수의 궤도 수요가 존재하기 때문입니다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아래 요소들 설명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66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제가 설정한 </a:t>
            </a:r>
            <a:r>
              <a:rPr lang="ko-KR" altLang="en-US" dirty="0" err="1"/>
              <a:t>목적함수입니다</a:t>
            </a:r>
            <a:r>
              <a:rPr lang="en-US" altLang="ko-KR" dirty="0"/>
              <a:t>. </a:t>
            </a:r>
            <a:r>
              <a:rPr lang="ko-KR" altLang="en-US" dirty="0"/>
              <a:t>총 비용을 최소화 </a:t>
            </a:r>
            <a:r>
              <a:rPr lang="ko-KR" altLang="en-US" dirty="0" err="1"/>
              <a:t>하는것이며</a:t>
            </a:r>
            <a:r>
              <a:rPr lang="ko-KR" altLang="en-US" dirty="0"/>
              <a:t> 비용은 고정자산 비용과 운영비용에 총 사이클 수를 곱한 값으로 정의됩니다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고정자산 비용은</a:t>
            </a:r>
            <a:r>
              <a:rPr lang="en-US" altLang="ko-KR" dirty="0"/>
              <a:t>, ISRU </a:t>
            </a:r>
            <a:r>
              <a:rPr lang="ko-KR" altLang="en-US" dirty="0"/>
              <a:t>인프라의 제작 및 운송 비용과 고정비용</a:t>
            </a:r>
            <a:r>
              <a:rPr lang="en-US" altLang="ko-KR" dirty="0"/>
              <a:t>, </a:t>
            </a:r>
            <a:r>
              <a:rPr lang="ko-KR" altLang="en-US" dirty="0"/>
              <a:t>우주선의 제작 및 운송비용 그리고 우주선 안에 들어갈 탱크의 제작 및 운반비용으로 정의됩니다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운영 비용은 </a:t>
            </a:r>
            <a:r>
              <a:rPr lang="en-US" altLang="ko-KR" dirty="0"/>
              <a:t>ISRU </a:t>
            </a:r>
            <a:r>
              <a:rPr lang="ko-KR" altLang="en-US" dirty="0"/>
              <a:t>인프라 유지를 위한 유지보수비용</a:t>
            </a:r>
            <a:r>
              <a:rPr lang="en-US" altLang="ko-KR" dirty="0"/>
              <a:t>, </a:t>
            </a:r>
            <a:r>
              <a:rPr lang="ko-KR" altLang="en-US" dirty="0"/>
              <a:t>지구에서 공급될 연료에 대한 비용입니다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OTV</a:t>
            </a:r>
            <a:r>
              <a:rPr lang="ko-KR" altLang="en-US" dirty="0"/>
              <a:t>를 운영하며 달 연료를 가져가는 것 보다 지구에서 사서 쓰는게 이득일 수 있어 마지막 항을 넣었습니다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Capex: </a:t>
            </a:r>
            <a:r>
              <a:rPr lang="ko-KR" altLang="en-US" dirty="0"/>
              <a:t>고정자산 비용</a:t>
            </a:r>
            <a:endParaRPr lang="en-US" altLang="ko-KR" dirty="0"/>
          </a:p>
          <a:p>
            <a:r>
              <a:rPr lang="en-US" altLang="ko-KR" dirty="0" err="1"/>
              <a:t>Opex</a:t>
            </a:r>
            <a:r>
              <a:rPr lang="en-US" altLang="ko-KR" dirty="0"/>
              <a:t> : </a:t>
            </a:r>
            <a:r>
              <a:rPr lang="ko-KR" altLang="en-US" dirty="0"/>
              <a:t>운영 비용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510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</a:t>
            </a:r>
            <a:r>
              <a:rPr lang="ko-KR" altLang="en-US" dirty="0" err="1"/>
              <a:t>결정변수입니다</a:t>
            </a:r>
            <a:r>
              <a:rPr lang="en-US" altLang="ko-KR" dirty="0"/>
              <a:t>. </a:t>
            </a:r>
            <a:r>
              <a:rPr lang="ko-KR" altLang="en-US" dirty="0"/>
              <a:t>기본적으로 </a:t>
            </a:r>
            <a:r>
              <a:rPr lang="en-US" altLang="ko-KR" dirty="0" err="1"/>
              <a:t>hao</a:t>
            </a:r>
            <a:r>
              <a:rPr lang="en-US" altLang="ko-KR" dirty="0"/>
              <a:t> </a:t>
            </a:r>
            <a:r>
              <a:rPr lang="en-US" altLang="ko-KR" dirty="0" err="1"/>
              <a:t>chen</a:t>
            </a:r>
            <a:r>
              <a:rPr lang="en-US" altLang="ko-KR" dirty="0"/>
              <a:t> </a:t>
            </a:r>
            <a:r>
              <a:rPr lang="ko-KR" altLang="en-US" dirty="0"/>
              <a:t>교수님의 </a:t>
            </a:r>
            <a:r>
              <a:rPr lang="en-US" altLang="ko-KR" dirty="0"/>
              <a:t>ten</a:t>
            </a:r>
            <a:r>
              <a:rPr lang="ko-KR" altLang="en-US" dirty="0"/>
              <a:t>을 활용한 우주 물류 미션 </a:t>
            </a:r>
            <a:r>
              <a:rPr lang="ko-KR" altLang="en-US" dirty="0" err="1"/>
              <a:t>플래닝</a:t>
            </a:r>
            <a:r>
              <a:rPr lang="ko-KR" altLang="en-US" dirty="0"/>
              <a:t> 및 우주선 디자인 논문의 모델링을 바탕으로 응용하였습니다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197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Phi: propellant mass fraction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6852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576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ko-KR" altLang="en-US" dirty="0"/>
              <a:t>실험 설정은 다음과 같습니다</a:t>
            </a:r>
            <a:r>
              <a:rPr lang="en-US" altLang="ko-KR" dirty="0"/>
              <a:t>.</a:t>
            </a:r>
          </a:p>
          <a:p>
            <a:pPr rtl="0"/>
            <a:r>
              <a:rPr lang="en-US" altLang="ko-KR" dirty="0"/>
              <a:t>payload </a:t>
            </a:r>
            <a:r>
              <a:rPr lang="ko-KR" altLang="en-US" dirty="0"/>
              <a:t>수요는 </a:t>
            </a:r>
            <a:r>
              <a:rPr lang="en-US" altLang="ko-KR" dirty="0"/>
              <a:t>60</a:t>
            </a:r>
            <a:r>
              <a:rPr lang="ko-KR" altLang="en-US" dirty="0"/>
              <a:t>일 또는 </a:t>
            </a:r>
            <a:r>
              <a:rPr lang="en-US" altLang="ko-KR" dirty="0"/>
              <a:t>90</a:t>
            </a:r>
            <a:r>
              <a:rPr lang="ko-KR" altLang="en-US" dirty="0"/>
              <a:t>일 간격으로 발생한다고 가정했습니다</a:t>
            </a:r>
            <a:r>
              <a:rPr lang="en-US" altLang="ko-KR" dirty="0"/>
              <a:t>. </a:t>
            </a:r>
            <a:r>
              <a:rPr lang="ko-KR" altLang="en-US" dirty="0"/>
              <a:t>그리고 두 축으로 </a:t>
            </a:r>
            <a:r>
              <a:rPr lang="en-US" altLang="ko-KR" dirty="0"/>
              <a:t>parameter sweep</a:t>
            </a:r>
            <a:r>
              <a:rPr lang="ko-KR" altLang="en-US" dirty="0"/>
              <a:t>을 돌렸습니다</a:t>
            </a:r>
            <a:r>
              <a:rPr lang="en-US" altLang="ko-KR" dirty="0"/>
              <a:t>. </a:t>
            </a:r>
            <a:r>
              <a:rPr lang="ko-KR" altLang="en-US" dirty="0"/>
              <a:t>미션 기간은 </a:t>
            </a:r>
            <a:r>
              <a:rPr lang="en-US" altLang="ko-KR" dirty="0"/>
              <a:t>4</a:t>
            </a:r>
            <a:r>
              <a:rPr lang="ko-KR" altLang="en-US" dirty="0"/>
              <a:t>년에서 </a:t>
            </a:r>
            <a:r>
              <a:rPr lang="en-US" altLang="ko-KR" dirty="0"/>
              <a:t>10</a:t>
            </a:r>
            <a:r>
              <a:rPr lang="ko-KR" altLang="en-US" dirty="0"/>
              <a:t>년까지</a:t>
            </a:r>
            <a:r>
              <a:rPr lang="en-US" altLang="ko-KR" dirty="0"/>
              <a:t>, </a:t>
            </a:r>
            <a:r>
              <a:rPr lang="ko-KR" altLang="en-US" dirty="0"/>
              <a:t>연간 </a:t>
            </a:r>
            <a:r>
              <a:rPr lang="en-US" altLang="ko-KR" dirty="0"/>
              <a:t>payload </a:t>
            </a:r>
            <a:r>
              <a:rPr lang="ko-KR" altLang="en-US" dirty="0"/>
              <a:t>수요는 </a:t>
            </a:r>
            <a:r>
              <a:rPr lang="en-US" altLang="ko-KR" dirty="0"/>
              <a:t>50</a:t>
            </a:r>
            <a:r>
              <a:rPr lang="ko-KR" altLang="en-US" dirty="0"/>
              <a:t>톤에서 </a:t>
            </a:r>
            <a:r>
              <a:rPr lang="en-US" altLang="ko-KR" dirty="0"/>
              <a:t>150</a:t>
            </a:r>
            <a:r>
              <a:rPr lang="ko-KR" altLang="en-US" dirty="0" err="1"/>
              <a:t>톤까지입니다</a:t>
            </a:r>
            <a:r>
              <a:rPr lang="en-US" altLang="ko-KR" dirty="0"/>
              <a:t>. </a:t>
            </a:r>
            <a:r>
              <a:rPr lang="ko-KR" altLang="en-US" dirty="0"/>
              <a:t>선행연구에서는 모두 </a:t>
            </a:r>
            <a:r>
              <a:rPr lang="en-US" altLang="ko-KR" dirty="0"/>
              <a:t>100t</a:t>
            </a:r>
            <a:r>
              <a:rPr lang="ko-KR" altLang="en-US" dirty="0"/>
              <a:t>에서 </a:t>
            </a:r>
            <a:r>
              <a:rPr lang="en-US" altLang="ko-KR" dirty="0"/>
              <a:t>150t </a:t>
            </a:r>
            <a:r>
              <a:rPr lang="ko-KR" altLang="en-US" dirty="0"/>
              <a:t>사이의 수요를 가정했는데</a:t>
            </a:r>
            <a:r>
              <a:rPr lang="en-US" altLang="ko-KR" dirty="0"/>
              <a:t>, </a:t>
            </a:r>
            <a:r>
              <a:rPr lang="ko-KR" altLang="en-US" dirty="0"/>
              <a:t>저는 모든 </a:t>
            </a:r>
            <a:r>
              <a:rPr lang="en-US" altLang="ko-KR" dirty="0"/>
              <a:t>GEO</a:t>
            </a:r>
            <a:r>
              <a:rPr lang="ko-KR" altLang="en-US" dirty="0"/>
              <a:t>로 가는 페이로드가 이 서비스를 이용하진 않을 것이며 현재 추세가 대형 위성보단 조금 소형 위성에 맞춰져 있으며 </a:t>
            </a:r>
            <a:r>
              <a:rPr lang="en-US" altLang="ko-KR" dirty="0"/>
              <a:t>LEO </a:t>
            </a:r>
            <a:r>
              <a:rPr lang="ko-KR" altLang="en-US" dirty="0"/>
              <a:t>수요가 너무 늘어남에 </a:t>
            </a:r>
            <a:r>
              <a:rPr lang="en-US" altLang="ko-KR" dirty="0"/>
              <a:t>GEO</a:t>
            </a:r>
            <a:r>
              <a:rPr lang="ko-KR" altLang="en-US" dirty="0"/>
              <a:t>수요가 무조건 늘진 </a:t>
            </a:r>
            <a:r>
              <a:rPr lang="ko-KR" altLang="en-US" dirty="0" err="1"/>
              <a:t>않을수도</a:t>
            </a:r>
            <a:r>
              <a:rPr lang="ko-KR" altLang="en-US" dirty="0"/>
              <a:t> 있겠다 생각이 들어 이렇게 범위를 선정하였습니다</a:t>
            </a:r>
            <a:r>
              <a:rPr lang="en-US" altLang="ko-KR" dirty="0"/>
              <a:t>. </a:t>
            </a:r>
            <a:r>
              <a:rPr lang="ko-KR" altLang="en-US" dirty="0"/>
              <a:t>미션 기간은 선행연구들이 다 기존 나사 달 미션에 맞추어 </a:t>
            </a:r>
            <a:r>
              <a:rPr lang="en-US" altLang="ko-KR" dirty="0"/>
              <a:t>10</a:t>
            </a:r>
            <a:r>
              <a:rPr lang="ko-KR" altLang="en-US" dirty="0"/>
              <a:t>년을 가정하여서 유사하게 </a:t>
            </a:r>
            <a:r>
              <a:rPr lang="en-US" altLang="ko-KR" dirty="0"/>
              <a:t>10</a:t>
            </a:r>
            <a:r>
              <a:rPr lang="ko-KR" altLang="en-US" dirty="0"/>
              <a:t>년을 최대로 선정하였습니다</a:t>
            </a:r>
            <a:r>
              <a:rPr lang="en-US" altLang="ko-KR" dirty="0"/>
              <a:t>.</a:t>
            </a:r>
          </a:p>
          <a:p>
            <a:pPr rtl="0"/>
            <a:r>
              <a:rPr lang="ko-KR" altLang="en-US" dirty="0"/>
              <a:t>서비스 아키텍처는 두 가지를 비교했습니다</a:t>
            </a:r>
            <a:r>
              <a:rPr lang="en-US" altLang="ko-KR" dirty="0"/>
              <a:t>. LEO</a:t>
            </a:r>
            <a:r>
              <a:rPr lang="ko-KR" altLang="en-US" dirty="0"/>
              <a:t>에서 위성을 받아 </a:t>
            </a:r>
            <a:r>
              <a:rPr lang="en-US" altLang="ko-KR" dirty="0"/>
              <a:t>GEO</a:t>
            </a:r>
            <a:r>
              <a:rPr lang="ko-KR" altLang="en-US" dirty="0"/>
              <a:t>까지 배송하는 서비스와</a:t>
            </a:r>
            <a:r>
              <a:rPr lang="en-US" altLang="ko-KR" dirty="0"/>
              <a:t>, </a:t>
            </a:r>
            <a:r>
              <a:rPr lang="ko-KR" altLang="en-US" dirty="0"/>
              <a:t>발사체가 </a:t>
            </a:r>
            <a:r>
              <a:rPr lang="en-US" altLang="ko-KR" dirty="0"/>
              <a:t>GTO</a:t>
            </a:r>
            <a:r>
              <a:rPr lang="ko-KR" altLang="en-US" dirty="0"/>
              <a:t>까지 올려준 위성을 받아 </a:t>
            </a:r>
            <a:r>
              <a:rPr lang="en-US" altLang="ko-KR" dirty="0"/>
              <a:t>GEO</a:t>
            </a:r>
            <a:r>
              <a:rPr lang="ko-KR" altLang="en-US" dirty="0"/>
              <a:t>로 올려주는 서비스입니다</a:t>
            </a:r>
            <a:r>
              <a:rPr lang="en-US" altLang="ko-KR" dirty="0"/>
              <a:t>. </a:t>
            </a:r>
            <a:r>
              <a:rPr lang="ko-KR" altLang="en-US" dirty="0"/>
              <a:t>그리고 이 중 두 조건 </a:t>
            </a:r>
            <a:r>
              <a:rPr lang="en-US" altLang="ko-KR" dirty="0"/>
              <a:t>— 6</a:t>
            </a:r>
            <a:r>
              <a:rPr lang="ko-KR" altLang="en-US" dirty="0"/>
              <a:t>년에 연 </a:t>
            </a:r>
            <a:r>
              <a:rPr lang="en-US" altLang="ko-KR" dirty="0"/>
              <a:t>75</a:t>
            </a:r>
            <a:r>
              <a:rPr lang="ko-KR" altLang="en-US" dirty="0"/>
              <a:t>톤</a:t>
            </a:r>
            <a:r>
              <a:rPr lang="en-US" altLang="ko-KR" dirty="0"/>
              <a:t>, 10</a:t>
            </a:r>
            <a:r>
              <a:rPr lang="ko-KR" altLang="en-US" dirty="0"/>
              <a:t>년에 연 </a:t>
            </a:r>
            <a:r>
              <a:rPr lang="en-US" altLang="ko-KR" dirty="0"/>
              <a:t>100</a:t>
            </a:r>
            <a:r>
              <a:rPr lang="ko-KR" altLang="en-US" dirty="0"/>
              <a:t>톤 </a:t>
            </a:r>
            <a:r>
              <a:rPr lang="en-US" altLang="ko-KR" dirty="0"/>
              <a:t>— </a:t>
            </a:r>
            <a:r>
              <a:rPr lang="ko-KR" altLang="en-US" dirty="0"/>
              <a:t>은 </a:t>
            </a:r>
            <a:r>
              <a:rPr lang="en-US" altLang="ko-KR" dirty="0"/>
              <a:t>network flow</a:t>
            </a:r>
            <a:r>
              <a:rPr lang="ko-KR" altLang="en-US" dirty="0"/>
              <a:t>까지 뜯어서 자세히 보겠습니다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783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오른쪽 위 그래프는 각 시나리오에 대한 킬로그램 당 코스트를 의미합니다</a:t>
            </a:r>
            <a:r>
              <a:rPr lang="en-US" altLang="ko-KR" dirty="0"/>
              <a:t>.</a:t>
            </a:r>
            <a:r>
              <a:rPr lang="ko-KR" altLang="en-US" dirty="0"/>
              <a:t> 직관적으로 예상할 수 있듯이</a:t>
            </a:r>
            <a:r>
              <a:rPr lang="en-US" altLang="ko-KR" dirty="0"/>
              <a:t>, </a:t>
            </a:r>
            <a:r>
              <a:rPr lang="ko-KR" altLang="en-US" dirty="0"/>
              <a:t>임무 기간이 길어질수록</a:t>
            </a:r>
            <a:r>
              <a:rPr lang="en-US" altLang="ko-KR" dirty="0"/>
              <a:t>, </a:t>
            </a:r>
            <a:r>
              <a:rPr lang="ko-KR" altLang="en-US" dirty="0"/>
              <a:t>총 페이로드 수요가 많아질수록</a:t>
            </a:r>
            <a:r>
              <a:rPr lang="en-US" altLang="ko-KR" dirty="0"/>
              <a:t> </a:t>
            </a:r>
            <a:r>
              <a:rPr lang="ko-KR" altLang="en-US" dirty="0"/>
              <a:t>고정비용이 분배되기 때문에 가격이 낮아지는 것을 알 수 있습니다</a:t>
            </a:r>
            <a:r>
              <a:rPr lang="en-US" altLang="ko-KR" dirty="0"/>
              <a:t>. </a:t>
            </a:r>
            <a:r>
              <a:rPr lang="ko-KR" altLang="en-US" dirty="0"/>
              <a:t>또한 페이로드 수요가 일어나는 주기가 길어지면</a:t>
            </a:r>
            <a:r>
              <a:rPr lang="en-US" altLang="ko-KR" dirty="0"/>
              <a:t>, </a:t>
            </a:r>
            <a:r>
              <a:rPr lang="ko-KR" altLang="en-US" dirty="0"/>
              <a:t>그 사이에 연료를 생산할 시간이 길어져 </a:t>
            </a:r>
            <a:r>
              <a:rPr lang="en-US" altLang="ko-KR" dirty="0"/>
              <a:t>ISRU Plant</a:t>
            </a:r>
            <a:r>
              <a:rPr lang="ko-KR" altLang="en-US" dirty="0"/>
              <a:t>가 길어지니 가격이 내려가는 것을 알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선행연구들은 달 </a:t>
            </a:r>
            <a:r>
              <a:rPr lang="en-US" altLang="ko-KR" dirty="0"/>
              <a:t>vs </a:t>
            </a:r>
            <a:r>
              <a:rPr lang="ko-KR" altLang="en-US" dirty="0"/>
              <a:t>지구 공급을 비교했는데 모든 결과에서 두 공급을 동시에 쓰는게 이득이라는 결과를 나타내고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왼쪽 위 그래프는 달에서 생산한 연료 대비 지구에서 생산하는 연료 비율을 나타낸 그래프 입니다</a:t>
            </a:r>
            <a:r>
              <a:rPr lang="en-US" altLang="ko-KR" dirty="0"/>
              <a:t>. 4</a:t>
            </a:r>
            <a:r>
              <a:rPr lang="ko-KR" altLang="en-US" dirty="0"/>
              <a:t>년 케이스를 제외하면 거의 유사한 것을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지구 추진제 비율과 </a:t>
            </a:r>
            <a:r>
              <a:rPr lang="en-US" altLang="ko-KR" dirty="0"/>
              <a:t>SWE </a:t>
            </a:r>
            <a:r>
              <a:rPr lang="ko-KR" altLang="en-US" dirty="0"/>
              <a:t>시설 규모는 </a:t>
            </a:r>
            <a:r>
              <a:rPr lang="en-US" altLang="ko-KR" dirty="0"/>
              <a:t>payload </a:t>
            </a:r>
            <a:r>
              <a:rPr lang="ko-KR" altLang="en-US" dirty="0"/>
              <a:t>수요량과 수요 주기에만 의존하고</a:t>
            </a:r>
            <a:r>
              <a:rPr lang="en-US" altLang="ko-KR" dirty="0"/>
              <a:t>, </a:t>
            </a:r>
            <a:r>
              <a:rPr lang="ko-KR" altLang="en-US" dirty="0"/>
              <a:t>미션 기간에는 거의 영향을 받지 않았습니다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＂</a:t>
            </a:r>
            <a:r>
              <a:rPr lang="ko-KR" altLang="en-US" dirty="0"/>
              <a:t>얼마나 오래 운영하느냐</a:t>
            </a:r>
            <a:r>
              <a:rPr lang="en-US" altLang="ko-KR" dirty="0"/>
              <a:t>＂</a:t>
            </a:r>
            <a:r>
              <a:rPr lang="ko-KR" altLang="en-US" dirty="0"/>
              <a:t>가 아니라 </a:t>
            </a:r>
            <a:r>
              <a:rPr lang="en-US" altLang="ko-KR" dirty="0"/>
              <a:t>＂</a:t>
            </a:r>
            <a:r>
              <a:rPr lang="ko-KR" altLang="en-US" dirty="0"/>
              <a:t>한 번에 얼마나 나르느냐</a:t>
            </a:r>
            <a:r>
              <a:rPr lang="en-US" altLang="ko-KR" dirty="0"/>
              <a:t>＂</a:t>
            </a:r>
            <a:r>
              <a:rPr lang="ko-KR" altLang="en-US" dirty="0"/>
              <a:t>가 아키텍처를 결정합니다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지구에서 가져오는 추진제는 거의 </a:t>
            </a:r>
            <a:r>
              <a:rPr lang="en-US" altLang="ko-KR" dirty="0"/>
              <a:t>LEO</a:t>
            </a:r>
            <a:r>
              <a:rPr lang="ko-KR" altLang="en-US" dirty="0"/>
              <a:t>에서 </a:t>
            </a:r>
            <a:r>
              <a:rPr lang="en-US" altLang="ko-KR" dirty="0"/>
              <a:t>GTO</a:t>
            </a:r>
            <a:r>
              <a:rPr lang="ko-KR" altLang="en-US" dirty="0"/>
              <a:t>로 가는데 사용됩니다</a:t>
            </a:r>
            <a:r>
              <a:rPr lang="en-US" altLang="ko-KR" dirty="0"/>
              <a:t>. </a:t>
            </a:r>
            <a:r>
              <a:rPr lang="ko-KR" altLang="en-US" dirty="0"/>
              <a:t>달 연료를 </a:t>
            </a:r>
            <a:r>
              <a:rPr lang="en-US" altLang="ko-KR" dirty="0"/>
              <a:t>LEO </a:t>
            </a:r>
            <a:r>
              <a:rPr lang="ko-KR" altLang="en-US" dirty="0"/>
              <a:t>까지 </a:t>
            </a:r>
            <a:r>
              <a:rPr lang="ko-KR" altLang="en-US" dirty="0" err="1"/>
              <a:t>보내는건</a:t>
            </a:r>
            <a:r>
              <a:rPr lang="ko-KR" altLang="en-US" dirty="0"/>
              <a:t> 비효율이라고 계산되어 </a:t>
            </a:r>
            <a:r>
              <a:rPr lang="en-US" altLang="ko-KR" dirty="0"/>
              <a:t>LEO-&gt;GTO</a:t>
            </a:r>
            <a:r>
              <a:rPr lang="ko-KR" altLang="en-US" dirty="0"/>
              <a:t>아크는 지구 공급이</a:t>
            </a:r>
            <a:r>
              <a:rPr lang="en-US" altLang="ko-KR" dirty="0"/>
              <a:t>, </a:t>
            </a:r>
            <a:r>
              <a:rPr lang="ko-KR" altLang="en-US" dirty="0"/>
              <a:t>나머지 아크는 달 공급이 커버할 수 있게 하는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676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파라미터 스터디 중 한 케이스를 가져온 결과입니다</a:t>
            </a:r>
            <a:r>
              <a:rPr lang="en-US" altLang="ko-KR" dirty="0"/>
              <a:t>.LLO, NRHO, GTO</a:t>
            </a:r>
            <a:r>
              <a:rPr lang="ko-KR" altLang="en-US" dirty="0"/>
              <a:t>에 </a:t>
            </a:r>
            <a:r>
              <a:rPr lang="ko-KR" altLang="en-US" dirty="0" err="1"/>
              <a:t>디폿을</a:t>
            </a:r>
            <a:r>
              <a:rPr lang="ko-KR" altLang="en-US" dirty="0"/>
              <a:t> 만들고 사용합니다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0823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GEO</a:t>
            </a:r>
            <a:r>
              <a:rPr lang="ko-KR" altLang="en-US" dirty="0"/>
              <a:t>의 한계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ISRU</a:t>
            </a:r>
            <a:r>
              <a:rPr lang="ko-KR" altLang="en-US" dirty="0"/>
              <a:t> 산소 활용 가능성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89521-69D0-497A-A60A-80E76340E3C9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524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Large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7" y="2130427"/>
            <a:ext cx="8352928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/>
              <a:t>Click to edit Master subtitle style</a:t>
            </a:r>
            <a:endParaRPr lang="ko-KR" alt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9553" y="1196752"/>
            <a:ext cx="8604448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18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직사각형 11"/>
          <p:cNvSpPr/>
          <p:nvPr userDrawn="1"/>
        </p:nvSpPr>
        <p:spPr>
          <a:xfrm>
            <a:off x="1763688" y="6381328"/>
            <a:ext cx="5616624" cy="432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15" name="그룹 14"/>
          <p:cNvGrpSpPr/>
          <p:nvPr userDrawn="1"/>
        </p:nvGrpSpPr>
        <p:grpSpPr>
          <a:xfrm>
            <a:off x="7293790" y="5517232"/>
            <a:ext cx="1825389" cy="938719"/>
            <a:chOff x="817503" y="4347749"/>
            <a:chExt cx="1825389" cy="938719"/>
          </a:xfrm>
        </p:grpSpPr>
        <p:sp>
          <p:nvSpPr>
            <p:cNvPr id="16" name="TextBox 15"/>
            <p:cNvSpPr txBox="1"/>
            <p:nvPr/>
          </p:nvSpPr>
          <p:spPr>
            <a:xfrm>
              <a:off x="817503" y="4347749"/>
              <a:ext cx="1409553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5500" spc="-150" dirty="0">
                  <a:solidFill>
                    <a:srgbClr val="C00000"/>
                  </a:solidFill>
                  <a:latin typeface="Eras Demi ITC" panose="020B0805030504020804" pitchFamily="34" charset="0"/>
                  <a:ea typeface="Adobe 고딕 Std B" panose="020B0800000000000000" pitchFamily="34" charset="-127"/>
                </a:rPr>
                <a:t>S</a:t>
              </a:r>
              <a:r>
                <a:rPr lang="en-US" altLang="ko-KR" sz="55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ras Demi ITC" panose="020B0805030504020804" pitchFamily="34" charset="0"/>
                  <a:ea typeface="Adobe 고딕 Std B" panose="020B0800000000000000" pitchFamily="34" charset="-127"/>
                </a:rPr>
                <a:t>A</a:t>
              </a:r>
              <a:r>
                <a:rPr lang="en-US" altLang="ko-KR" sz="5500" spc="-150" dirty="0">
                  <a:latin typeface="Eras Demi ITC" panose="020B0805030504020804" pitchFamily="34" charset="0"/>
                  <a:ea typeface="Adobe 고딕 Std B" panose="020B0800000000000000" pitchFamily="34" charset="-127"/>
                </a:rPr>
                <a:t>I</a:t>
              </a:r>
              <a:endParaRPr lang="ko-KR" altLang="en-US" sz="5500" spc="-150" dirty="0">
                <a:latin typeface="Eras Demi ITC" panose="020B0805030504020804" pitchFamily="34" charset="0"/>
                <a:ea typeface="Adobe 고딕 Std B" panose="020B0800000000000000" pitchFamily="34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89160" y="4671802"/>
              <a:ext cx="7537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rgbClr val="C00000"/>
                  </a:solidFill>
                  <a:latin typeface="Eras Medium ITC" panose="020B0602030504020804" pitchFamily="34" charset="0"/>
                </a:rPr>
                <a:t>STRATEGIC</a:t>
              </a:r>
            </a:p>
            <a:p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ras Medium ITC" panose="020B0602030504020804" pitchFamily="34" charset="0"/>
                </a:rPr>
                <a:t>AEROSPACE</a:t>
              </a:r>
            </a:p>
            <a:p>
              <a:r>
                <a:rPr lang="en-US" altLang="ko-KR" sz="800" dirty="0">
                  <a:latin typeface="Eras Medium ITC" panose="020B0602030504020804" pitchFamily="34" charset="0"/>
                </a:rPr>
                <a:t>INITIATIVE</a:t>
              </a:r>
              <a:endParaRPr lang="ko-KR" altLang="en-US" sz="800" dirty="0">
                <a:latin typeface="Eras Medium ITC" panose="020B0602030504020804" pitchFamily="34" charset="0"/>
              </a:endParaRPr>
            </a:p>
          </p:txBody>
        </p:sp>
        <p:grpSp>
          <p:nvGrpSpPr>
            <p:cNvPr id="18" name="그룹 17"/>
            <p:cNvGrpSpPr/>
            <p:nvPr/>
          </p:nvGrpSpPr>
          <p:grpSpPr>
            <a:xfrm>
              <a:off x="1986327" y="4591068"/>
              <a:ext cx="325074" cy="115070"/>
              <a:chOff x="8534577" y="4349158"/>
              <a:chExt cx="507193" cy="179537"/>
            </a:xfrm>
          </p:grpSpPr>
          <p:sp>
            <p:nvSpPr>
              <p:cNvPr id="19" name="갈매기형 수장 18"/>
              <p:cNvSpPr/>
              <p:nvPr/>
            </p:nvSpPr>
            <p:spPr>
              <a:xfrm>
                <a:off x="8534577" y="4349158"/>
                <a:ext cx="201448" cy="179537"/>
              </a:xfrm>
              <a:prstGeom prst="chevron">
                <a:avLst/>
              </a:prstGeom>
              <a:solidFill>
                <a:srgbClr val="C0000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갈매기형 수장 19"/>
              <p:cNvSpPr/>
              <p:nvPr/>
            </p:nvSpPr>
            <p:spPr>
              <a:xfrm>
                <a:off x="8691005" y="4349158"/>
                <a:ext cx="197785" cy="179536"/>
              </a:xfrm>
              <a:prstGeom prst="chevron">
                <a:avLst/>
              </a:prstGeom>
              <a:solidFill>
                <a:schemeClr val="tx1">
                  <a:lumMod val="85000"/>
                  <a:lumOff val="1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갈매기형 수장 20"/>
              <p:cNvSpPr/>
              <p:nvPr/>
            </p:nvSpPr>
            <p:spPr>
              <a:xfrm>
                <a:off x="8843770" y="4349158"/>
                <a:ext cx="198000" cy="179536"/>
              </a:xfrm>
              <a:prstGeom prst="chevron">
                <a:avLst/>
              </a:prstGeom>
              <a:solidFill>
                <a:schemeClr val="tx1">
                  <a:lumMod val="85000"/>
                  <a:lumOff val="15000"/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3" name="직사각형 22"/>
          <p:cNvSpPr/>
          <p:nvPr userDrawn="1"/>
        </p:nvSpPr>
        <p:spPr>
          <a:xfrm flipV="1">
            <a:off x="0" y="6372329"/>
            <a:ext cx="9144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992361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Small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7" y="2130427"/>
            <a:ext cx="8352928" cy="147002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/>
              <a:t>Click to edit Master subtitle style</a:t>
            </a:r>
            <a:endParaRPr lang="ko-KR" alt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9553" y="1196752"/>
            <a:ext cx="8604448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18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6372329"/>
            <a:ext cx="9144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4072233" y="6373975"/>
            <a:ext cx="999534" cy="466776"/>
            <a:chOff x="6861691" y="2620442"/>
            <a:chExt cx="999534" cy="466776"/>
          </a:xfrm>
        </p:grpSpPr>
        <p:sp>
          <p:nvSpPr>
            <p:cNvPr id="18" name="TextBox 17"/>
            <p:cNvSpPr txBox="1"/>
            <p:nvPr/>
          </p:nvSpPr>
          <p:spPr>
            <a:xfrm>
              <a:off x="6861691" y="2620442"/>
              <a:ext cx="7047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spc="-150" dirty="0">
                  <a:solidFill>
                    <a:srgbClr val="C00000"/>
                  </a:solidFill>
                  <a:latin typeface="Eras Demi ITC" panose="020B0805030504020804" pitchFamily="34" charset="0"/>
                  <a:ea typeface="Adobe 고딕 Std B" panose="020B0800000000000000" pitchFamily="34" charset="-127"/>
                </a:rPr>
                <a:t>S</a:t>
              </a:r>
              <a:r>
                <a:rPr lang="en-US" altLang="ko-KR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ras Demi ITC" panose="020B0805030504020804" pitchFamily="34" charset="0"/>
                  <a:ea typeface="Adobe 고딕 Std B" panose="020B0800000000000000" pitchFamily="34" charset="-127"/>
                </a:rPr>
                <a:t>A</a:t>
              </a:r>
              <a:r>
                <a:rPr lang="en-US" altLang="ko-KR" sz="2000" spc="-150" dirty="0">
                  <a:latin typeface="Eras Demi ITC" panose="020B0805030504020804" pitchFamily="34" charset="0"/>
                  <a:ea typeface="Adobe 고딕 Std B" panose="020B0800000000000000" pitchFamily="34" charset="-127"/>
                </a:rPr>
                <a:t>I</a:t>
              </a:r>
              <a:endParaRPr lang="ko-KR" altLang="en-US" sz="5400" spc="-150" dirty="0">
                <a:latin typeface="Eras Demi ITC" panose="020B0805030504020804" pitchFamily="34" charset="0"/>
                <a:ea typeface="Adobe 고딕 Std B" panose="020B0800000000000000" pitchFamily="34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54969" y="2671720"/>
              <a:ext cx="60625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rgbClr val="C00000"/>
                  </a:solidFill>
                  <a:latin typeface="Eras Medium ITC" panose="020B0602030504020804" pitchFamily="34" charset="0"/>
                </a:rPr>
                <a:t>Strategic</a:t>
              </a:r>
            </a:p>
            <a:p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ras Medium ITC" panose="020B0602030504020804" pitchFamily="34" charset="0"/>
                </a:rPr>
                <a:t>Aerospace</a:t>
              </a:r>
            </a:p>
            <a:p>
              <a:r>
                <a:rPr lang="en-US" altLang="ko-KR" sz="700" dirty="0">
                  <a:latin typeface="Eras Medium ITC" panose="020B0602030504020804" pitchFamily="34" charset="0"/>
                </a:rPr>
                <a:t>Initiative</a:t>
              </a:r>
              <a:endParaRPr lang="ko-KR" altLang="en-US" sz="700" dirty="0">
                <a:latin typeface="Eras Medium ITC" panose="020B0602030504020804" pitchFamily="34" charset="0"/>
              </a:endParaRPr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7100250" y="2940656"/>
              <a:ext cx="213373" cy="77040"/>
              <a:chOff x="7100250" y="2937481"/>
              <a:chExt cx="213373" cy="77040"/>
            </a:xfrm>
          </p:grpSpPr>
          <p:sp>
            <p:nvSpPr>
              <p:cNvPr id="21" name="갈매기형 수장 20"/>
              <p:cNvSpPr/>
              <p:nvPr/>
            </p:nvSpPr>
            <p:spPr>
              <a:xfrm>
                <a:off x="7100250" y="2937481"/>
                <a:ext cx="83831" cy="77029"/>
              </a:xfrm>
              <a:prstGeom prst="chevron">
                <a:avLst/>
              </a:prstGeom>
              <a:solidFill>
                <a:srgbClr val="C0000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갈매기형 수장 21"/>
              <p:cNvSpPr/>
              <p:nvPr/>
            </p:nvSpPr>
            <p:spPr>
              <a:xfrm>
                <a:off x="7166500" y="2937492"/>
                <a:ext cx="82307" cy="77029"/>
              </a:xfrm>
              <a:prstGeom prst="chevron">
                <a:avLst/>
              </a:prstGeom>
              <a:solidFill>
                <a:schemeClr val="tx1">
                  <a:lumMod val="85000"/>
                  <a:lumOff val="1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갈매기형 수장 22"/>
              <p:cNvSpPr/>
              <p:nvPr/>
            </p:nvSpPr>
            <p:spPr>
              <a:xfrm>
                <a:off x="7231227" y="2937492"/>
                <a:ext cx="82396" cy="77029"/>
              </a:xfrm>
              <a:prstGeom prst="chevron">
                <a:avLst/>
              </a:prstGeom>
              <a:solidFill>
                <a:schemeClr val="tx1">
                  <a:lumMod val="85000"/>
                  <a:lumOff val="15000"/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021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76671"/>
            <a:ext cx="8640960" cy="648073"/>
          </a:xfrm>
          <a:prstGeom prst="rect">
            <a:avLst/>
          </a:prstGeom>
        </p:spPr>
        <p:txBody>
          <a:bodyPr anchor="ctr"/>
          <a:lstStyle/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52069"/>
            <a:ext cx="8640960" cy="5076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12" name="직사각형 11"/>
          <p:cNvSpPr/>
          <p:nvPr userDrawn="1"/>
        </p:nvSpPr>
        <p:spPr>
          <a:xfrm flipV="1">
            <a:off x="0" y="6372329"/>
            <a:ext cx="9144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14" name="직사각형 13"/>
          <p:cNvSpPr/>
          <p:nvPr userDrawn="1"/>
        </p:nvSpPr>
        <p:spPr>
          <a:xfrm flipV="1">
            <a:off x="719573" y="1172981"/>
            <a:ext cx="8424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>
          <a:xfrm>
            <a:off x="1872000" y="6448253"/>
            <a:ext cx="54000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>
          <a:xfrm>
            <a:off x="8028384" y="6448253"/>
            <a:ext cx="864096" cy="365125"/>
          </a:xfrm>
          <a:prstGeom prst="rect">
            <a:avLst/>
          </a:prstGeom>
        </p:spPr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‹#›</a:t>
            </a:fld>
            <a:endParaRPr lang="ko-KR" altLang="en-US" dirty="0"/>
          </a:p>
        </p:txBody>
      </p:sp>
      <p:grpSp>
        <p:nvGrpSpPr>
          <p:cNvPr id="21" name="그룹 20"/>
          <p:cNvGrpSpPr/>
          <p:nvPr userDrawn="1"/>
        </p:nvGrpSpPr>
        <p:grpSpPr>
          <a:xfrm>
            <a:off x="219806" y="6373975"/>
            <a:ext cx="999534" cy="466776"/>
            <a:chOff x="6861691" y="2620442"/>
            <a:chExt cx="999534" cy="466776"/>
          </a:xfrm>
        </p:grpSpPr>
        <p:sp>
          <p:nvSpPr>
            <p:cNvPr id="22" name="TextBox 21"/>
            <p:cNvSpPr txBox="1"/>
            <p:nvPr/>
          </p:nvSpPr>
          <p:spPr>
            <a:xfrm>
              <a:off x="6861691" y="2620442"/>
              <a:ext cx="7047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spc="-150" dirty="0">
                  <a:solidFill>
                    <a:srgbClr val="C00000"/>
                  </a:solidFill>
                  <a:latin typeface="Eras Demi ITC" panose="020B0805030504020804" pitchFamily="34" charset="0"/>
                  <a:ea typeface="Adobe 고딕 Std B" panose="020B0800000000000000" pitchFamily="34" charset="-127"/>
                </a:rPr>
                <a:t>S</a:t>
              </a:r>
              <a:r>
                <a:rPr lang="en-US" altLang="ko-KR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ras Demi ITC" panose="020B0805030504020804" pitchFamily="34" charset="0"/>
                  <a:ea typeface="Adobe 고딕 Std B" panose="020B0800000000000000" pitchFamily="34" charset="-127"/>
                </a:rPr>
                <a:t>A</a:t>
              </a:r>
              <a:r>
                <a:rPr lang="en-US" altLang="ko-KR" sz="2000" spc="-150" dirty="0">
                  <a:latin typeface="Eras Demi ITC" panose="020B0805030504020804" pitchFamily="34" charset="0"/>
                  <a:ea typeface="Adobe 고딕 Std B" panose="020B0800000000000000" pitchFamily="34" charset="-127"/>
                </a:rPr>
                <a:t>I</a:t>
              </a:r>
              <a:endParaRPr lang="ko-KR" altLang="en-US" sz="5400" spc="-150" dirty="0">
                <a:latin typeface="Eras Demi ITC" panose="020B0805030504020804" pitchFamily="34" charset="0"/>
                <a:ea typeface="Adobe 고딕 Std B" panose="020B0800000000000000" pitchFamily="34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254969" y="2671720"/>
              <a:ext cx="60625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rgbClr val="C00000"/>
                  </a:solidFill>
                  <a:latin typeface="Eras Medium ITC" panose="020B0602030504020804" pitchFamily="34" charset="0"/>
                </a:rPr>
                <a:t>Strategic</a:t>
              </a:r>
            </a:p>
            <a:p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ras Medium ITC" panose="020B0602030504020804" pitchFamily="34" charset="0"/>
                </a:rPr>
                <a:t>Aerospace</a:t>
              </a:r>
            </a:p>
            <a:p>
              <a:r>
                <a:rPr lang="en-US" altLang="ko-KR" sz="700" dirty="0">
                  <a:latin typeface="Eras Medium ITC" panose="020B0602030504020804" pitchFamily="34" charset="0"/>
                </a:rPr>
                <a:t>Initiative</a:t>
              </a:r>
              <a:endParaRPr lang="ko-KR" altLang="en-US" sz="700" dirty="0">
                <a:latin typeface="Eras Medium ITC" panose="020B0602030504020804" pitchFamily="34" charset="0"/>
              </a:endParaRPr>
            </a:p>
          </p:txBody>
        </p:sp>
        <p:grpSp>
          <p:nvGrpSpPr>
            <p:cNvPr id="24" name="그룹 23"/>
            <p:cNvGrpSpPr/>
            <p:nvPr/>
          </p:nvGrpSpPr>
          <p:grpSpPr>
            <a:xfrm>
              <a:off x="7100250" y="2940656"/>
              <a:ext cx="213373" cy="77040"/>
              <a:chOff x="7100250" y="2937481"/>
              <a:chExt cx="213373" cy="77040"/>
            </a:xfrm>
          </p:grpSpPr>
          <p:sp>
            <p:nvSpPr>
              <p:cNvPr id="25" name="갈매기형 수장 24"/>
              <p:cNvSpPr/>
              <p:nvPr/>
            </p:nvSpPr>
            <p:spPr>
              <a:xfrm>
                <a:off x="7100250" y="2937481"/>
                <a:ext cx="83831" cy="77029"/>
              </a:xfrm>
              <a:prstGeom prst="chevron">
                <a:avLst/>
              </a:prstGeom>
              <a:solidFill>
                <a:srgbClr val="C0000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갈매기형 수장 25"/>
              <p:cNvSpPr/>
              <p:nvPr/>
            </p:nvSpPr>
            <p:spPr>
              <a:xfrm>
                <a:off x="7166500" y="2937492"/>
                <a:ext cx="82307" cy="77029"/>
              </a:xfrm>
              <a:prstGeom prst="chevron">
                <a:avLst/>
              </a:prstGeom>
              <a:solidFill>
                <a:schemeClr val="tx1">
                  <a:lumMod val="85000"/>
                  <a:lumOff val="1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갈매기형 수장 26"/>
              <p:cNvSpPr/>
              <p:nvPr/>
            </p:nvSpPr>
            <p:spPr>
              <a:xfrm>
                <a:off x="7231227" y="2937492"/>
                <a:ext cx="82396" cy="77029"/>
              </a:xfrm>
              <a:prstGeom prst="chevron">
                <a:avLst/>
              </a:prstGeom>
              <a:solidFill>
                <a:schemeClr val="tx1">
                  <a:lumMod val="85000"/>
                  <a:lumOff val="15000"/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24385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76671"/>
            <a:ext cx="8640960" cy="648073"/>
          </a:xfrm>
          <a:prstGeom prst="rect">
            <a:avLst/>
          </a:prstGeom>
        </p:spPr>
        <p:txBody>
          <a:bodyPr anchor="ctr"/>
          <a:lstStyle/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252068"/>
            <a:ext cx="4244280" cy="507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2068"/>
            <a:ext cx="4244280" cy="50760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19" name="바닥글 개체 틀 8"/>
          <p:cNvSpPr>
            <a:spLocks noGrp="1"/>
          </p:cNvSpPr>
          <p:nvPr>
            <p:ph type="ftr" sz="quarter" idx="11"/>
          </p:nvPr>
        </p:nvSpPr>
        <p:spPr>
          <a:xfrm>
            <a:off x="1872000" y="6448253"/>
            <a:ext cx="54000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28384" y="6448253"/>
            <a:ext cx="864096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560BD6D9-66B7-43E0-9871-9B378EB1F2DE}" type="slidenum">
              <a:rPr lang="ko-KR" altLang="en-US" smtClean="0"/>
              <a:pPr algn="r"/>
              <a:t>‹#›</a:t>
            </a:fld>
            <a:endParaRPr lang="ko-KR" altLang="en-US" dirty="0"/>
          </a:p>
        </p:txBody>
      </p:sp>
      <p:sp>
        <p:nvSpPr>
          <p:cNvPr id="20" name="직사각형 19"/>
          <p:cNvSpPr/>
          <p:nvPr userDrawn="1"/>
        </p:nvSpPr>
        <p:spPr>
          <a:xfrm flipV="1">
            <a:off x="719573" y="1172981"/>
            <a:ext cx="8424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21" name="직사각형 20"/>
          <p:cNvSpPr/>
          <p:nvPr userDrawn="1"/>
        </p:nvSpPr>
        <p:spPr>
          <a:xfrm flipV="1">
            <a:off x="0" y="6372329"/>
            <a:ext cx="9144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219806" y="6373975"/>
            <a:ext cx="999534" cy="466776"/>
            <a:chOff x="6861691" y="2620442"/>
            <a:chExt cx="999534" cy="466776"/>
          </a:xfrm>
        </p:grpSpPr>
        <p:sp>
          <p:nvSpPr>
            <p:cNvPr id="23" name="TextBox 22"/>
            <p:cNvSpPr txBox="1"/>
            <p:nvPr/>
          </p:nvSpPr>
          <p:spPr>
            <a:xfrm>
              <a:off x="6861691" y="2620442"/>
              <a:ext cx="7047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spc="-150" dirty="0">
                  <a:solidFill>
                    <a:srgbClr val="C00000"/>
                  </a:solidFill>
                  <a:latin typeface="Eras Demi ITC" panose="020B0805030504020804" pitchFamily="34" charset="0"/>
                  <a:ea typeface="Adobe 고딕 Std B" panose="020B0800000000000000" pitchFamily="34" charset="-127"/>
                </a:rPr>
                <a:t>S</a:t>
              </a:r>
              <a:r>
                <a:rPr lang="en-US" altLang="ko-KR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ras Demi ITC" panose="020B0805030504020804" pitchFamily="34" charset="0"/>
                  <a:ea typeface="Adobe 고딕 Std B" panose="020B0800000000000000" pitchFamily="34" charset="-127"/>
                </a:rPr>
                <a:t>A</a:t>
              </a:r>
              <a:r>
                <a:rPr lang="en-US" altLang="ko-KR" sz="2000" spc="-150" dirty="0">
                  <a:latin typeface="Eras Demi ITC" panose="020B0805030504020804" pitchFamily="34" charset="0"/>
                  <a:ea typeface="Adobe 고딕 Std B" panose="020B0800000000000000" pitchFamily="34" charset="-127"/>
                </a:rPr>
                <a:t>I</a:t>
              </a:r>
              <a:endParaRPr lang="ko-KR" altLang="en-US" sz="5400" spc="-150" dirty="0">
                <a:latin typeface="Eras Demi ITC" panose="020B0805030504020804" pitchFamily="34" charset="0"/>
                <a:ea typeface="Adobe 고딕 Std B" panose="020B0800000000000000" pitchFamily="34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54969" y="2671720"/>
              <a:ext cx="60625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rgbClr val="C00000"/>
                  </a:solidFill>
                  <a:latin typeface="Eras Medium ITC" panose="020B0602030504020804" pitchFamily="34" charset="0"/>
                </a:rPr>
                <a:t>Strategic</a:t>
              </a:r>
            </a:p>
            <a:p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ras Medium ITC" panose="020B0602030504020804" pitchFamily="34" charset="0"/>
                </a:rPr>
                <a:t>Aerospace</a:t>
              </a:r>
            </a:p>
            <a:p>
              <a:r>
                <a:rPr lang="en-US" altLang="ko-KR" sz="700" dirty="0">
                  <a:latin typeface="Eras Medium ITC" panose="020B0602030504020804" pitchFamily="34" charset="0"/>
                </a:rPr>
                <a:t>Initiative</a:t>
              </a:r>
              <a:endParaRPr lang="ko-KR" altLang="en-US" sz="700" dirty="0">
                <a:latin typeface="Eras Medium ITC" panose="020B0602030504020804" pitchFamily="34" charset="0"/>
              </a:endParaRPr>
            </a:p>
          </p:txBody>
        </p:sp>
        <p:grpSp>
          <p:nvGrpSpPr>
            <p:cNvPr id="25" name="그룹 24"/>
            <p:cNvGrpSpPr/>
            <p:nvPr/>
          </p:nvGrpSpPr>
          <p:grpSpPr>
            <a:xfrm>
              <a:off x="7100250" y="2940656"/>
              <a:ext cx="213373" cy="77040"/>
              <a:chOff x="7100250" y="2937481"/>
              <a:chExt cx="213373" cy="77040"/>
            </a:xfrm>
          </p:grpSpPr>
          <p:sp>
            <p:nvSpPr>
              <p:cNvPr id="26" name="갈매기형 수장 25"/>
              <p:cNvSpPr/>
              <p:nvPr/>
            </p:nvSpPr>
            <p:spPr>
              <a:xfrm>
                <a:off x="7100250" y="2937481"/>
                <a:ext cx="83831" cy="77029"/>
              </a:xfrm>
              <a:prstGeom prst="chevron">
                <a:avLst/>
              </a:prstGeom>
              <a:solidFill>
                <a:srgbClr val="C0000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갈매기형 수장 26"/>
              <p:cNvSpPr/>
              <p:nvPr/>
            </p:nvSpPr>
            <p:spPr>
              <a:xfrm>
                <a:off x="7166500" y="2937492"/>
                <a:ext cx="82307" cy="77029"/>
              </a:xfrm>
              <a:prstGeom prst="chevron">
                <a:avLst/>
              </a:prstGeom>
              <a:solidFill>
                <a:schemeClr val="tx1">
                  <a:lumMod val="85000"/>
                  <a:lumOff val="1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갈매기형 수장 27"/>
              <p:cNvSpPr/>
              <p:nvPr/>
            </p:nvSpPr>
            <p:spPr>
              <a:xfrm>
                <a:off x="7231227" y="2937492"/>
                <a:ext cx="82396" cy="77029"/>
              </a:xfrm>
              <a:prstGeom prst="chevron">
                <a:avLst/>
              </a:prstGeom>
              <a:solidFill>
                <a:schemeClr val="tx1">
                  <a:lumMod val="85000"/>
                  <a:lumOff val="15000"/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126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7"/>
          <p:cNvSpPr/>
          <p:nvPr userDrawn="1"/>
        </p:nvSpPr>
        <p:spPr>
          <a:xfrm>
            <a:off x="0" y="0"/>
            <a:ext cx="9144000" cy="188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51520" y="2924944"/>
            <a:ext cx="8640960" cy="720080"/>
          </a:xfrm>
          <a:prstGeom prst="rect">
            <a:avLst/>
          </a:prstGeom>
        </p:spPr>
        <p:txBody>
          <a:bodyPr anchor="ctr"/>
          <a:lstStyle>
            <a:lvl1pPr algn="l">
              <a:defRPr sz="3600" i="1" baseline="0"/>
            </a:lvl1pPr>
          </a:lstStyle>
          <a:p>
            <a:r>
              <a:rPr lang="en-US" altLang="ko-KR" dirty="0"/>
              <a:t>	Thank You</a:t>
            </a:r>
            <a:endParaRPr lang="ko-KR" altLang="en-US" dirty="0"/>
          </a:p>
        </p:txBody>
      </p:sp>
      <p:sp>
        <p:nvSpPr>
          <p:cNvPr id="20" name="직사각형 19"/>
          <p:cNvSpPr/>
          <p:nvPr userDrawn="1"/>
        </p:nvSpPr>
        <p:spPr>
          <a:xfrm flipV="1">
            <a:off x="720000" y="6372329"/>
            <a:ext cx="8424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7293790" y="5517232"/>
            <a:ext cx="1825389" cy="938719"/>
            <a:chOff x="817503" y="4347749"/>
            <a:chExt cx="1825389" cy="938719"/>
          </a:xfrm>
        </p:grpSpPr>
        <p:sp>
          <p:nvSpPr>
            <p:cNvPr id="22" name="TextBox 21"/>
            <p:cNvSpPr txBox="1"/>
            <p:nvPr/>
          </p:nvSpPr>
          <p:spPr>
            <a:xfrm>
              <a:off x="817503" y="4347749"/>
              <a:ext cx="1409553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5500" spc="-150" dirty="0">
                  <a:solidFill>
                    <a:srgbClr val="C00000"/>
                  </a:solidFill>
                  <a:latin typeface="Eras Demi ITC" panose="020B0805030504020804" pitchFamily="34" charset="0"/>
                  <a:ea typeface="Adobe 고딕 Std B" panose="020B0800000000000000" pitchFamily="34" charset="-127"/>
                </a:rPr>
                <a:t>S</a:t>
              </a:r>
              <a:r>
                <a:rPr lang="en-US" altLang="ko-KR" sz="55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ras Demi ITC" panose="020B0805030504020804" pitchFamily="34" charset="0"/>
                  <a:ea typeface="Adobe 고딕 Std B" panose="020B0800000000000000" pitchFamily="34" charset="-127"/>
                </a:rPr>
                <a:t>A</a:t>
              </a:r>
              <a:r>
                <a:rPr lang="en-US" altLang="ko-KR" sz="5500" spc="-150" dirty="0">
                  <a:latin typeface="Eras Demi ITC" panose="020B0805030504020804" pitchFamily="34" charset="0"/>
                  <a:ea typeface="Adobe 고딕 Std B" panose="020B0800000000000000" pitchFamily="34" charset="-127"/>
                </a:rPr>
                <a:t>I</a:t>
              </a:r>
              <a:endParaRPr lang="ko-KR" altLang="en-US" sz="5500" spc="-150" dirty="0">
                <a:latin typeface="Eras Demi ITC" panose="020B0805030504020804" pitchFamily="34" charset="0"/>
                <a:ea typeface="Adobe 고딕 Std B" panose="020B0800000000000000" pitchFamily="34" charset="-12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89160" y="4671802"/>
              <a:ext cx="7537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rgbClr val="C00000"/>
                  </a:solidFill>
                  <a:latin typeface="Eras Medium ITC" panose="020B0602030504020804" pitchFamily="34" charset="0"/>
                </a:rPr>
                <a:t>STRATEGIC</a:t>
              </a:r>
            </a:p>
            <a:p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ras Medium ITC" panose="020B0602030504020804" pitchFamily="34" charset="0"/>
                </a:rPr>
                <a:t>AEROSPACE</a:t>
              </a:r>
            </a:p>
            <a:p>
              <a:r>
                <a:rPr lang="en-US" altLang="ko-KR" sz="800" dirty="0">
                  <a:latin typeface="Eras Medium ITC" panose="020B0602030504020804" pitchFamily="34" charset="0"/>
                </a:rPr>
                <a:t>INITIATIVE</a:t>
              </a:r>
              <a:endParaRPr lang="ko-KR" altLang="en-US" sz="800" dirty="0">
                <a:latin typeface="Eras Medium ITC" panose="020B0602030504020804" pitchFamily="34" charset="0"/>
              </a:endParaRPr>
            </a:p>
          </p:txBody>
        </p:sp>
        <p:grpSp>
          <p:nvGrpSpPr>
            <p:cNvPr id="24" name="그룹 23"/>
            <p:cNvGrpSpPr/>
            <p:nvPr/>
          </p:nvGrpSpPr>
          <p:grpSpPr>
            <a:xfrm>
              <a:off x="1986327" y="4591068"/>
              <a:ext cx="325074" cy="115070"/>
              <a:chOff x="8534577" y="4349158"/>
              <a:chExt cx="507193" cy="179537"/>
            </a:xfrm>
          </p:grpSpPr>
          <p:sp>
            <p:nvSpPr>
              <p:cNvPr id="25" name="갈매기형 수장 24"/>
              <p:cNvSpPr/>
              <p:nvPr/>
            </p:nvSpPr>
            <p:spPr>
              <a:xfrm>
                <a:off x="8534577" y="4349158"/>
                <a:ext cx="201448" cy="179537"/>
              </a:xfrm>
              <a:prstGeom prst="chevron">
                <a:avLst/>
              </a:prstGeom>
              <a:solidFill>
                <a:srgbClr val="C0000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갈매기형 수장 25"/>
              <p:cNvSpPr/>
              <p:nvPr/>
            </p:nvSpPr>
            <p:spPr>
              <a:xfrm>
                <a:off x="8691005" y="4349158"/>
                <a:ext cx="197785" cy="179536"/>
              </a:xfrm>
              <a:prstGeom prst="chevron">
                <a:avLst/>
              </a:prstGeom>
              <a:solidFill>
                <a:schemeClr val="tx1">
                  <a:lumMod val="85000"/>
                  <a:lumOff val="1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갈매기형 수장 26"/>
              <p:cNvSpPr/>
              <p:nvPr/>
            </p:nvSpPr>
            <p:spPr>
              <a:xfrm>
                <a:off x="8843770" y="4349158"/>
                <a:ext cx="198000" cy="179536"/>
              </a:xfrm>
              <a:prstGeom prst="chevron">
                <a:avLst/>
              </a:prstGeom>
              <a:solidFill>
                <a:schemeClr val="tx1">
                  <a:lumMod val="85000"/>
                  <a:lumOff val="15000"/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7924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 userDrawn="1"/>
        </p:nvSpPr>
        <p:spPr>
          <a:xfrm>
            <a:off x="251520" y="476671"/>
            <a:ext cx="8640960" cy="64807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baseline="0">
                <a:solidFill>
                  <a:schemeClr val="tx1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14" name="Content Placeholder 2"/>
          <p:cNvSpPr txBox="1">
            <a:spLocks/>
          </p:cNvSpPr>
          <p:nvPr userDrawn="1"/>
        </p:nvSpPr>
        <p:spPr>
          <a:xfrm>
            <a:off x="251520" y="1252069"/>
            <a:ext cx="8640960" cy="509365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 baseline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 baseline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23" name="직사각형 22"/>
          <p:cNvSpPr/>
          <p:nvPr userDrawn="1"/>
        </p:nvSpPr>
        <p:spPr>
          <a:xfrm flipV="1">
            <a:off x="719573" y="1165547"/>
            <a:ext cx="8424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28384" y="6448253"/>
            <a:ext cx="864096" cy="365125"/>
          </a:xfrm>
          <a:prstGeom prst="rect">
            <a:avLst/>
          </a:prstGeom>
        </p:spPr>
        <p:txBody>
          <a:bodyPr anchor="ctr"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fld id="{560BD6D9-66B7-43E0-9871-9B378EB1F2DE}" type="slidenum">
              <a:rPr lang="ko-KR" altLang="en-US" smtClean="0"/>
              <a:pPr algn="r"/>
              <a:t>‹#›</a:t>
            </a:fld>
            <a:endParaRPr lang="ko-KR" altLang="en-US" dirty="0"/>
          </a:p>
        </p:txBody>
      </p:sp>
      <p:sp>
        <p:nvSpPr>
          <p:cNvPr id="18" name="바닥글 개체 틀 6"/>
          <p:cNvSpPr>
            <a:spLocks noGrp="1"/>
          </p:cNvSpPr>
          <p:nvPr>
            <p:ph type="ftr" sz="quarter" idx="3"/>
          </p:nvPr>
        </p:nvSpPr>
        <p:spPr>
          <a:xfrm>
            <a:off x="1872000" y="6448253"/>
            <a:ext cx="54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17" name="직사각형 16"/>
          <p:cNvSpPr/>
          <p:nvPr userDrawn="1"/>
        </p:nvSpPr>
        <p:spPr>
          <a:xfrm flipV="1">
            <a:off x="0" y="6372329"/>
            <a:ext cx="9144000" cy="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grpSp>
        <p:nvGrpSpPr>
          <p:cNvPr id="19" name="그룹 18"/>
          <p:cNvGrpSpPr/>
          <p:nvPr userDrawn="1"/>
        </p:nvGrpSpPr>
        <p:grpSpPr>
          <a:xfrm>
            <a:off x="219806" y="6373975"/>
            <a:ext cx="999534" cy="466776"/>
            <a:chOff x="6861691" y="2620442"/>
            <a:chExt cx="999534" cy="466776"/>
          </a:xfrm>
        </p:grpSpPr>
        <p:sp>
          <p:nvSpPr>
            <p:cNvPr id="20" name="TextBox 19"/>
            <p:cNvSpPr txBox="1"/>
            <p:nvPr/>
          </p:nvSpPr>
          <p:spPr>
            <a:xfrm>
              <a:off x="6861691" y="2620442"/>
              <a:ext cx="7047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spc="-150" dirty="0">
                  <a:solidFill>
                    <a:srgbClr val="C00000"/>
                  </a:solidFill>
                  <a:latin typeface="Eras Demi ITC" panose="020B0805030504020804" pitchFamily="34" charset="0"/>
                  <a:ea typeface="Adobe 고딕 Std B" panose="020B0800000000000000" pitchFamily="34" charset="-127"/>
                </a:rPr>
                <a:t>S</a:t>
              </a:r>
              <a:r>
                <a:rPr lang="en-US" altLang="ko-KR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ras Demi ITC" panose="020B0805030504020804" pitchFamily="34" charset="0"/>
                  <a:ea typeface="Adobe 고딕 Std B" panose="020B0800000000000000" pitchFamily="34" charset="-127"/>
                </a:rPr>
                <a:t>A</a:t>
              </a:r>
              <a:r>
                <a:rPr lang="en-US" altLang="ko-KR" sz="2000" spc="-150" dirty="0">
                  <a:latin typeface="Eras Demi ITC" panose="020B0805030504020804" pitchFamily="34" charset="0"/>
                  <a:ea typeface="Adobe 고딕 Std B" panose="020B0800000000000000" pitchFamily="34" charset="-127"/>
                </a:rPr>
                <a:t>I</a:t>
              </a:r>
              <a:endParaRPr lang="ko-KR" altLang="en-US" sz="5400" spc="-150" dirty="0">
                <a:latin typeface="Eras Demi ITC" panose="020B0805030504020804" pitchFamily="34" charset="0"/>
                <a:ea typeface="Adobe 고딕 Std B" panose="020B0800000000000000" pitchFamily="34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54969" y="2671720"/>
              <a:ext cx="60625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rgbClr val="C00000"/>
                  </a:solidFill>
                  <a:latin typeface="Eras Medium ITC" panose="020B0602030504020804" pitchFamily="34" charset="0"/>
                </a:rPr>
                <a:t>Strategic</a:t>
              </a:r>
            </a:p>
            <a:p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ras Medium ITC" panose="020B0602030504020804" pitchFamily="34" charset="0"/>
                </a:rPr>
                <a:t>Aerospace</a:t>
              </a:r>
            </a:p>
            <a:p>
              <a:r>
                <a:rPr lang="en-US" altLang="ko-KR" sz="700" dirty="0">
                  <a:latin typeface="Eras Medium ITC" panose="020B0602030504020804" pitchFamily="34" charset="0"/>
                </a:rPr>
                <a:t>Initiative</a:t>
              </a:r>
              <a:endParaRPr lang="ko-KR" altLang="en-US" sz="700" dirty="0">
                <a:latin typeface="Eras Medium ITC" panose="020B0602030504020804" pitchFamily="34" charset="0"/>
              </a:endParaRPr>
            </a:p>
          </p:txBody>
        </p:sp>
        <p:grpSp>
          <p:nvGrpSpPr>
            <p:cNvPr id="22" name="그룹 21"/>
            <p:cNvGrpSpPr/>
            <p:nvPr/>
          </p:nvGrpSpPr>
          <p:grpSpPr>
            <a:xfrm>
              <a:off x="7100250" y="2940656"/>
              <a:ext cx="213373" cy="77040"/>
              <a:chOff x="7100250" y="2937481"/>
              <a:chExt cx="213373" cy="77040"/>
            </a:xfrm>
          </p:grpSpPr>
          <p:sp>
            <p:nvSpPr>
              <p:cNvPr id="24" name="갈매기형 수장 23"/>
              <p:cNvSpPr/>
              <p:nvPr/>
            </p:nvSpPr>
            <p:spPr>
              <a:xfrm>
                <a:off x="7100250" y="2937481"/>
                <a:ext cx="83831" cy="77029"/>
              </a:xfrm>
              <a:prstGeom prst="chevron">
                <a:avLst/>
              </a:prstGeom>
              <a:solidFill>
                <a:srgbClr val="C00000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갈매기형 수장 24"/>
              <p:cNvSpPr/>
              <p:nvPr/>
            </p:nvSpPr>
            <p:spPr>
              <a:xfrm>
                <a:off x="7166500" y="2937492"/>
                <a:ext cx="82307" cy="77029"/>
              </a:xfrm>
              <a:prstGeom prst="chevron">
                <a:avLst/>
              </a:prstGeom>
              <a:solidFill>
                <a:schemeClr val="tx1">
                  <a:lumMod val="85000"/>
                  <a:lumOff val="15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갈매기형 수장 25"/>
              <p:cNvSpPr/>
              <p:nvPr/>
            </p:nvSpPr>
            <p:spPr>
              <a:xfrm>
                <a:off x="7231227" y="2937492"/>
                <a:ext cx="82396" cy="77029"/>
              </a:xfrm>
              <a:prstGeom prst="chevron">
                <a:avLst/>
              </a:prstGeom>
              <a:solidFill>
                <a:schemeClr val="tx1">
                  <a:lumMod val="85000"/>
                  <a:lumOff val="15000"/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5610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baseline="0">
          <a:solidFill>
            <a:schemeClr val="tx1"/>
          </a:solidFill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400"/>
      </a:lvl1pPr>
    </p:titleStyle>
    <p:bodyStyle>
      <a:lvl1pPr>
        <a:defRPr sz="1400"/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.xml"/><Relationship Id="rId3" Type="http://schemas.openxmlformats.org/officeDocument/2006/relationships/hyperlink" Target="https://doi.org/10.1016/j.reach.2019.100026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s://doi.org/10.1016/j.pss.2020.104843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0.png"/><Relationship Id="rId4" Type="http://schemas.openxmlformats.org/officeDocument/2006/relationships/image" Target="../media/image13.png"/><Relationship Id="rId9" Type="http://schemas.openxmlformats.org/officeDocument/2006/relationships/comments" Target="../comments/commen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7" Type="http://schemas.openxmlformats.org/officeDocument/2006/relationships/image" Target="../media/image38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1.png"/><Relationship Id="rId5" Type="http://schemas.openxmlformats.org/officeDocument/2006/relationships/image" Target="../media/image31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Lunar ISRU supported Orbit Transportation Logistics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Yedarm</a:t>
            </a:r>
            <a:r>
              <a:rPr lang="en-US" altLang="ko-KR" dirty="0"/>
              <a:t> Jung</a:t>
            </a:r>
          </a:p>
          <a:p>
            <a:r>
              <a:rPr lang="en-US" altLang="ko-KR" dirty="0"/>
              <a:t>2026-07-23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3639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</a:p>
          <a:p>
            <a:endParaRPr lang="en-US" altLang="ko-KR" dirty="0"/>
          </a:p>
          <a:p>
            <a:r>
              <a:rPr lang="en-US" altLang="ko-KR" dirty="0"/>
              <a:t>Literature Review</a:t>
            </a:r>
          </a:p>
          <a:p>
            <a:endParaRPr lang="en-US" altLang="ko-KR" dirty="0"/>
          </a:p>
          <a:p>
            <a:r>
              <a:rPr lang="en-US" altLang="ko-KR" dirty="0"/>
              <a:t>Implementation</a:t>
            </a:r>
          </a:p>
          <a:p>
            <a:endParaRPr lang="en-US" altLang="ko-KR" dirty="0"/>
          </a:p>
          <a:p>
            <a:r>
              <a:rPr lang="en-US" altLang="ko-KR" dirty="0"/>
              <a:t>Case Studies</a:t>
            </a:r>
          </a:p>
          <a:p>
            <a:endParaRPr lang="en-US" altLang="ko-KR" dirty="0"/>
          </a:p>
          <a:p>
            <a:r>
              <a:rPr lang="en-US" altLang="ko-KR" dirty="0"/>
              <a:t>Future Works</a:t>
            </a: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565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6EAA9-73B0-4A01-BC1F-D3E877D8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E9D25F-EEE1-4852-87F1-92728BD0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4234A0-64B6-4CBE-98C6-8AAE11DC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3</a:t>
            </a:fld>
            <a:endParaRPr lang="ko-KR" altLang="en-US" dirty="0"/>
          </a:p>
        </p:txBody>
      </p:sp>
      <p:pic>
        <p:nvPicPr>
          <p:cNvPr id="260" name="Picture 15">
            <a:extLst>
              <a:ext uri="{FF2B5EF4-FFF2-40B4-BE49-F238E27FC236}">
                <a16:creationId xmlns:a16="http://schemas.microsoft.com/office/drawing/2014/main" id="{0EF89856-18B6-466D-8214-EE2BC682F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432494"/>
            <a:ext cx="4354341" cy="31734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4F55310-5591-4157-A3D7-D7F1FDDD0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3" y="2725611"/>
            <a:ext cx="4255319" cy="2505540"/>
          </a:xfrm>
          <a:prstGeom prst="rect">
            <a:avLst/>
          </a:prstGeom>
        </p:spPr>
      </p:pic>
      <p:sp>
        <p:nvSpPr>
          <p:cNvPr id="7" name="내용 개체 틀 29">
            <a:extLst>
              <a:ext uri="{FF2B5EF4-FFF2-40B4-BE49-F238E27FC236}">
                <a16:creationId xmlns:a16="http://schemas.microsoft.com/office/drawing/2014/main" id="{759BB9C3-6C0C-4818-A92A-F066B2A87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52069"/>
            <a:ext cx="8640960" cy="5076000"/>
          </a:xfrm>
        </p:spPr>
        <p:txBody>
          <a:bodyPr/>
          <a:lstStyle/>
          <a:p>
            <a:r>
              <a:rPr lang="en-US" altLang="ko-KR" sz="2000" dirty="0"/>
              <a:t>Every space mission today runs on a supply chain with a single source: Earth</a:t>
            </a:r>
          </a:p>
          <a:p>
            <a:r>
              <a:rPr lang="en-US" altLang="ko-KR" sz="2000" dirty="0"/>
              <a:t>Lunar resources could add a second supply node</a:t>
            </a:r>
          </a:p>
        </p:txBody>
      </p:sp>
    </p:spTree>
    <p:extLst>
      <p:ext uri="{BB962C8B-B14F-4D97-AF65-F5344CB8AC3E}">
        <p14:creationId xmlns:p14="http://schemas.microsoft.com/office/powerpoint/2010/main" val="344197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6579BF-1095-44A2-945E-18D4FCAB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8EB393-24D7-42DE-9685-98BA44134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ko-KR" sz="2000" dirty="0"/>
              <a:t>Propellant can be produced on the Moon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A5D759-6B61-4DC9-B0D1-8BDB0212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43F156-A80A-40C5-8A85-1E5B14B3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4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963D8C-DE09-4A0E-862F-C1371E66C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52" y="2454380"/>
            <a:ext cx="4431014" cy="2739834"/>
          </a:xfrm>
          <a:prstGeom prst="rect">
            <a:avLst/>
          </a:prstGeom>
        </p:spPr>
      </p:pic>
      <p:pic>
        <p:nvPicPr>
          <p:cNvPr id="9" name="ISRUchain">
            <a:extLst>
              <a:ext uri="{FF2B5EF4-FFF2-40B4-BE49-F238E27FC236}">
                <a16:creationId xmlns:a16="http://schemas.microsoft.com/office/drawing/2014/main" id="{98B40891-9705-4F6C-889A-A13CFB8AEBF2}"/>
              </a:ext>
            </a:extLst>
          </p:cNvPr>
          <p:cNvPicPr/>
          <p:nvPr/>
        </p:nvPicPr>
        <p:blipFill rotWithShape="1">
          <a:blip r:embed="rId4"/>
          <a:srcRect b="29522"/>
          <a:stretch/>
        </p:blipFill>
        <p:spPr>
          <a:xfrm>
            <a:off x="-99616" y="7317432"/>
            <a:ext cx="8128000" cy="15126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DEF16FD-E602-47B2-A5B9-CF4810743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303" y="2454380"/>
            <a:ext cx="4403013" cy="282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847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6EAA9-73B0-4A01-BC1F-D3E877D8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E9D25F-EEE1-4852-87F1-92728BD0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4234A0-64B6-4CBE-98C6-8AAE11DC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3516726-472B-48B1-BEAB-3DF68593EE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83"/>
          <a:stretch/>
        </p:blipFill>
        <p:spPr>
          <a:xfrm>
            <a:off x="4320481" y="2351897"/>
            <a:ext cx="4571999" cy="27154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229607F-C276-4410-9C7E-B84F1994B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924944"/>
            <a:ext cx="3297732" cy="15694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F1D702-BF41-4070-8689-8127FD895403}"/>
              </a:ext>
            </a:extLst>
          </p:cNvPr>
          <p:cNvSpPr txBox="1"/>
          <p:nvPr/>
        </p:nvSpPr>
        <p:spPr>
          <a:xfrm>
            <a:off x="2912058" y="1701587"/>
            <a:ext cx="3319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Earth to GEO vs Moon to GEO</a:t>
            </a:r>
            <a:endParaRPr lang="ko-KR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83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Literature Review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72000" y="6381329"/>
            <a:ext cx="5400000" cy="365125"/>
          </a:xfrm>
        </p:spPr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6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F64097A-E354-4D38-B037-5E78DDB86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52069"/>
            <a:ext cx="5688632" cy="5076000"/>
          </a:xfrm>
        </p:spPr>
        <p:txBody>
          <a:bodyPr>
            <a:normAutofit/>
          </a:bodyPr>
          <a:lstStyle/>
          <a:p>
            <a:pPr algn="just"/>
            <a:r>
              <a:rPr lang="en-US" altLang="ko-KR" sz="2000" dirty="0"/>
              <a:t>Blair et al. (2002)</a:t>
            </a:r>
            <a:endParaRPr lang="en-US" altLang="ko-KR" sz="2000" baseline="30000" dirty="0"/>
          </a:p>
          <a:p>
            <a:pPr lvl="1" algn="just"/>
            <a:r>
              <a:rPr lang="en-US" altLang="ko-KR" sz="1800" dirty="0"/>
              <a:t>Lunar -&gt; EML1 depot -&gt; LEO-GEO transfer service</a:t>
            </a:r>
          </a:p>
          <a:p>
            <a:pPr lvl="1" algn="just"/>
            <a:r>
              <a:rPr lang="en-US" altLang="ko-KR" sz="1800" dirty="0"/>
              <a:t>Lower launch cost worsens ISRU economics</a:t>
            </a:r>
          </a:p>
          <a:p>
            <a:pPr algn="just"/>
            <a:endParaRPr lang="en-US" altLang="ko-KR" dirty="0"/>
          </a:p>
          <a:p>
            <a:pPr algn="just"/>
            <a:r>
              <a:rPr lang="en-US" altLang="ko-KR" sz="2000" dirty="0" err="1"/>
              <a:t>Charania</a:t>
            </a:r>
            <a:r>
              <a:rPr lang="en-US" altLang="ko-KR" sz="2000" dirty="0"/>
              <a:t> &amp; DePasquale (2007)</a:t>
            </a:r>
            <a:endParaRPr lang="en-US" altLang="ko-KR" sz="2000" baseline="30000" dirty="0"/>
          </a:p>
          <a:p>
            <a:pPr lvl="1" algn="just"/>
            <a:r>
              <a:rPr lang="en-US" altLang="ko-KR" sz="1800" dirty="0"/>
              <a:t>Fixed plant &amp; vehicle design; DCF break-even propellant price</a:t>
            </a:r>
          </a:p>
          <a:p>
            <a:pPr lvl="1" algn="just"/>
            <a:r>
              <a:rPr lang="en-US" altLang="ko-KR" sz="1800" dirty="0"/>
              <a:t>Not competitive against Earth-Launched propellant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4F312-D582-451F-A29A-F28B289159F9}"/>
              </a:ext>
            </a:extLst>
          </p:cNvPr>
          <p:cNvSpPr txBox="1"/>
          <p:nvPr/>
        </p:nvSpPr>
        <p:spPr>
          <a:xfrm>
            <a:off x="3369742" y="589009"/>
            <a:ext cx="576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[1] Blair, B. R., et al., "Space Resource Economic Analysis Toolkit: The Case for Commercial Lunar Ice Mining," Final Report to the NASA Exploration Team, Colorado School of Mines, Golden, CO, Dec. 2002.</a:t>
            </a: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[2]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Charania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, A. C., and DePasquale, D., "Economic Analysis of a Lunar In-Situ Resource Utilization (ISRU) Propellant Services Market,"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58th International Astronautical Congress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, Paper IAC-07-A5.1.03, 2007.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013300-0B5F-4C86-876F-5312A694B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317" y="1412776"/>
            <a:ext cx="2665440" cy="201421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C62CC44-23E3-4DCE-8CB8-DBCF2720D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176" y="3547174"/>
            <a:ext cx="2607177" cy="2257664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470022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Literature Review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7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F64097A-E354-4D38-B037-5E78DDB86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52069"/>
            <a:ext cx="8568952" cy="5057251"/>
          </a:xfrm>
        </p:spPr>
        <p:txBody>
          <a:bodyPr/>
          <a:lstStyle/>
          <a:p>
            <a:pPr algn="just"/>
            <a:r>
              <a:rPr lang="en-US" altLang="ko-KR" sz="2000" dirty="0" err="1"/>
              <a:t>Kornuta</a:t>
            </a:r>
            <a:r>
              <a:rPr lang="ko-KR" altLang="en-US" sz="2000" dirty="0"/>
              <a:t> </a:t>
            </a:r>
            <a:r>
              <a:rPr lang="en-US" altLang="ko-KR" sz="2000" dirty="0"/>
              <a:t>et</a:t>
            </a:r>
            <a:r>
              <a:rPr lang="ko-KR" altLang="en-US" sz="2000" dirty="0"/>
              <a:t> </a:t>
            </a:r>
            <a:r>
              <a:rPr lang="en-US" altLang="ko-KR" sz="2000" dirty="0"/>
              <a:t>al . (2019)</a:t>
            </a:r>
          </a:p>
          <a:p>
            <a:pPr lvl="1" algn="just"/>
            <a:r>
              <a:rPr lang="en-US" altLang="ko-KR" sz="1800" dirty="0"/>
              <a:t>DCF over 7 customer-mix demand scenarios</a:t>
            </a:r>
          </a:p>
          <a:p>
            <a:pPr lvl="1" algn="just"/>
            <a:r>
              <a:rPr lang="en-US" altLang="ko-KR" sz="1800" dirty="0"/>
              <a:t>Multi-customer demand -&gt; commercially viable</a:t>
            </a:r>
          </a:p>
          <a:p>
            <a:pPr lvl="1" algn="just"/>
            <a:endParaRPr lang="en-US" altLang="ko-KR" sz="1050" dirty="0"/>
          </a:p>
          <a:p>
            <a:pPr algn="just"/>
            <a:r>
              <a:rPr lang="en-US" altLang="ko-KR" sz="2000" dirty="0"/>
              <a:t>Bennett, N. J  (2020)</a:t>
            </a:r>
          </a:p>
          <a:p>
            <a:pPr lvl="1" algn="just"/>
            <a:r>
              <a:rPr lang="en-US" altLang="ko-KR" sz="1800" dirty="0"/>
              <a:t>Sell impulse in GTO instead of propellant in LEO</a:t>
            </a:r>
          </a:p>
          <a:p>
            <a:pPr lvl="1" algn="just"/>
            <a:r>
              <a:rPr lang="en-US" altLang="ko-KR" sz="1800" dirty="0"/>
              <a:t>revenue</a:t>
            </a:r>
            <a:r>
              <a:rPr lang="ko-KR" altLang="en-US" sz="1800" dirty="0"/>
              <a:t> </a:t>
            </a:r>
            <a:r>
              <a:rPr lang="en-US" altLang="ko-KR" sz="1800" dirty="0"/>
              <a:t>more</a:t>
            </a:r>
            <a:r>
              <a:rPr lang="ko-KR" altLang="en-US" sz="1800" dirty="0"/>
              <a:t> </a:t>
            </a:r>
            <a:r>
              <a:rPr lang="en-US" altLang="ko-KR" sz="1800" dirty="0"/>
              <a:t>than</a:t>
            </a:r>
            <a:r>
              <a:rPr lang="ko-KR" altLang="en-US" sz="1800" dirty="0"/>
              <a:t> </a:t>
            </a:r>
            <a:r>
              <a:rPr lang="en-US" altLang="ko-KR" sz="1800" dirty="0"/>
              <a:t>doubles</a:t>
            </a:r>
            <a:r>
              <a:rPr lang="ko-KR" altLang="en-US" sz="1800" dirty="0"/>
              <a:t> </a:t>
            </a:r>
            <a:r>
              <a:rPr lang="en-US" altLang="ko-KR" sz="1800" dirty="0"/>
              <a:t>vs. the</a:t>
            </a:r>
            <a:r>
              <a:rPr lang="ko-KR" altLang="en-US" sz="1800" dirty="0"/>
              <a:t> </a:t>
            </a:r>
            <a:r>
              <a:rPr lang="en-US" altLang="ko-KR" sz="1800" dirty="0"/>
              <a:t>LEO</a:t>
            </a:r>
            <a:r>
              <a:rPr lang="ko-KR" altLang="en-US" sz="1800" dirty="0"/>
              <a:t> </a:t>
            </a:r>
            <a:r>
              <a:rPr lang="en-US" altLang="ko-KR" sz="1800" dirty="0"/>
              <a:t>market</a:t>
            </a:r>
          </a:p>
          <a:p>
            <a:pPr algn="just"/>
            <a:endParaRPr lang="en-US" altLang="ko-KR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843F-4D08-4DC4-9406-14287E7F3817}"/>
              </a:ext>
            </a:extLst>
          </p:cNvPr>
          <p:cNvSpPr txBox="1"/>
          <p:nvPr/>
        </p:nvSpPr>
        <p:spPr>
          <a:xfrm>
            <a:off x="3383360" y="446764"/>
            <a:ext cx="57606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[3]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Kornuta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, D., et al., "Commercial Lunar Propellant Architecture: A Collaborative Study of Lunar Propellant Production," </a:t>
            </a:r>
            <a:r>
              <a:rPr lang="en-US" altLang="ko-KR" sz="800" i="1" dirty="0">
                <a:solidFill>
                  <a:schemeClr val="bg1">
                    <a:lumMod val="50000"/>
                  </a:schemeClr>
                </a:solidFill>
              </a:rPr>
              <a:t>REACH - Reviews in Human Space Exploration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, Vol. 13, 2019, Article 100026.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https://doi.org/10.1016/j.reach.2019.100026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[4] Bennett, N. J., and Dempster, A. G., "Geosynchronous Transfer Orbits as a Market for Impulse Delivered by Lunar Sourced Propellant," Planetary and Space Science, Vol. 182, 2020, Article 104843.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hlinkClick r:id="rId4"/>
              </a:rPr>
              <a:t>https://doi.org/10.1016/j.pss.2020.104843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E9D26FD-3F38-4E4E-A7D8-04BCA997C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4463" y="6956825"/>
            <a:ext cx="2607177" cy="2257664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softEdge rad="0"/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8B82560-BB63-4856-8B70-B5AD644B6B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7461448"/>
            <a:ext cx="2607177" cy="165323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aphicFrame>
        <p:nvGraphicFramePr>
          <p:cNvPr id="11" name="표 8">
            <a:extLst>
              <a:ext uri="{FF2B5EF4-FFF2-40B4-BE49-F238E27FC236}">
                <a16:creationId xmlns:a16="http://schemas.microsoft.com/office/drawing/2014/main" id="{36C7530D-925A-42D3-A27C-EE34D0293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067545"/>
              </p:ext>
            </p:extLst>
          </p:nvPr>
        </p:nvGraphicFramePr>
        <p:xfrm>
          <a:off x="-5581128" y="7529397"/>
          <a:ext cx="573596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9576">
                  <a:extLst>
                    <a:ext uri="{9D8B030D-6E8A-4147-A177-3AD203B41FA5}">
                      <a16:colId xmlns:a16="http://schemas.microsoft.com/office/drawing/2014/main" val="222684347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57445595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15938314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23864086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328052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LEO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GTO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GEO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Moon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12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Launch from Earth cost $/kg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4,000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8,000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16,000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35,000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88569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 price $/kg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3,000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6,000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12,000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27,000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7076607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217DFCF8-3B19-4C1F-BD0A-7FB1D0C7CA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472" y="3780694"/>
            <a:ext cx="4644008" cy="2256186"/>
          </a:xfrm>
          <a:prstGeom prst="rect">
            <a:avLst/>
          </a:prstGeom>
        </p:spPr>
      </p:pic>
      <p:graphicFrame>
        <p:nvGraphicFramePr>
          <p:cNvPr id="12" name="표 12">
            <a:extLst>
              <a:ext uri="{FF2B5EF4-FFF2-40B4-BE49-F238E27FC236}">
                <a16:creationId xmlns:a16="http://schemas.microsoft.com/office/drawing/2014/main" id="{E5413847-A4DE-4198-934A-9589CF6EC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832896"/>
              </p:ext>
            </p:extLst>
          </p:nvPr>
        </p:nvGraphicFramePr>
        <p:xfrm>
          <a:off x="323528" y="3818096"/>
          <a:ext cx="3708112" cy="22187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3452">
                  <a:extLst>
                    <a:ext uri="{9D8B030D-6E8A-4147-A177-3AD203B41FA5}">
                      <a16:colId xmlns:a16="http://schemas.microsoft.com/office/drawing/2014/main" val="1915477050"/>
                    </a:ext>
                  </a:extLst>
                </a:gridCol>
                <a:gridCol w="1578623">
                  <a:extLst>
                    <a:ext uri="{9D8B030D-6E8A-4147-A177-3AD203B41FA5}">
                      <a16:colId xmlns:a16="http://schemas.microsoft.com/office/drawing/2014/main" val="64853942"/>
                    </a:ext>
                  </a:extLst>
                </a:gridCol>
                <a:gridCol w="1236037">
                  <a:extLst>
                    <a:ext uri="{9D8B030D-6E8A-4147-A177-3AD203B41FA5}">
                      <a16:colId xmlns:a16="http://schemas.microsoft.com/office/drawing/2014/main" val="2493170575"/>
                    </a:ext>
                  </a:extLst>
                </a:gridCol>
              </a:tblGrid>
              <a:tr h="3169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From Earth</a:t>
                      </a:r>
                      <a:endParaRPr lang="ko-KR" altLang="en-US" sz="1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From Moon</a:t>
                      </a:r>
                      <a:endParaRPr lang="ko-KR" altLang="en-US" sz="1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786040"/>
                  </a:ext>
                </a:extLst>
              </a:tr>
              <a:tr h="316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Earth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$ 1/kg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2767898"/>
                  </a:ext>
                </a:extLst>
              </a:tr>
              <a:tr h="316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LEO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$ 4000/kg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$ 3000/kg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159003"/>
                  </a:ext>
                </a:extLst>
              </a:tr>
              <a:tr h="316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GTO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$ 8000/kg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$ 1500/kg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605744"/>
                  </a:ext>
                </a:extLst>
              </a:tr>
              <a:tr h="316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$ 16000/kg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$ 1500/kg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433683"/>
                  </a:ext>
                </a:extLst>
              </a:tr>
              <a:tr h="316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EML1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$ 12000/kg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$ 1000/kg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663393"/>
                  </a:ext>
                </a:extLst>
              </a:tr>
              <a:tr h="316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Lunar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$ 35000/kg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$ 500/kg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12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033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Literature Review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8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F64097A-E354-4D38-B037-5E78DDB86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52069"/>
            <a:ext cx="8784976" cy="5057251"/>
          </a:xfrm>
        </p:spPr>
        <p:txBody>
          <a:bodyPr/>
          <a:lstStyle/>
          <a:p>
            <a:pPr algn="just"/>
            <a:r>
              <a:rPr lang="en-US" altLang="ko-KR" sz="2000" dirty="0"/>
              <a:t>Metzger, P. T. (2023)</a:t>
            </a:r>
          </a:p>
          <a:p>
            <a:pPr lvl="1" algn="just"/>
            <a:r>
              <a:rPr lang="en-US" altLang="ko-KR" sz="1800" dirty="0"/>
              <a:t>Long-run competitiveness driven by economies of scale</a:t>
            </a:r>
          </a:p>
          <a:p>
            <a:pPr lvl="1" algn="just"/>
            <a:r>
              <a:rPr lang="en-US" altLang="ko-KR" sz="1800" dirty="0"/>
              <a:t>Two</a:t>
            </a:r>
            <a:r>
              <a:rPr lang="ko-KR" altLang="en-US" sz="1800" dirty="0"/>
              <a:t> </a:t>
            </a:r>
            <a:r>
              <a:rPr lang="en-US" altLang="ko-KR" sz="1800" dirty="0"/>
              <a:t>variables: production efficiency, launch cost</a:t>
            </a:r>
          </a:p>
          <a:p>
            <a:pPr lvl="1" algn="just"/>
            <a:r>
              <a:rPr lang="en-US" altLang="ko-KR" sz="1800" dirty="0"/>
              <a:t>Above a threshold, competitive at any launch price</a:t>
            </a:r>
          </a:p>
          <a:p>
            <a:pPr marL="457200" lvl="1" indent="0" algn="just">
              <a:buNone/>
            </a:pPr>
            <a:endParaRPr lang="en-US" altLang="ko-KR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843F-4D08-4DC4-9406-14287E7F3817}"/>
              </a:ext>
            </a:extLst>
          </p:cNvPr>
          <p:cNvSpPr txBox="1"/>
          <p:nvPr/>
        </p:nvSpPr>
        <p:spPr>
          <a:xfrm>
            <a:off x="3408884" y="693483"/>
            <a:ext cx="576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[5] Metzger, P. T., "Economics of In-Space Industry and Competitiveness of Lunar-Derived Rocket Propellant," Acta </a:t>
            </a:r>
            <a:r>
              <a:rPr lang="en-US" altLang="ko-KR" sz="800" dirty="0" err="1">
                <a:solidFill>
                  <a:schemeClr val="bg1">
                    <a:lumMod val="50000"/>
                  </a:schemeClr>
                </a:solidFill>
              </a:rPr>
              <a:t>Astronautica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, Vol. 207, 2023, pp. 425–444. https://doi.org/10.1016/j.actaastro.2023.03.014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1224B42-E0DF-4774-ADDB-D720BEE83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869" y="1731222"/>
            <a:ext cx="2589627" cy="216683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2D693CE-D783-4D6B-895F-44A8EE6F9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948" y="3952685"/>
            <a:ext cx="3558750" cy="23020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30428E-6AD4-44B3-814B-B46D00BC44C2}"/>
                  </a:ext>
                </a:extLst>
              </p:cNvPr>
              <p:cNvSpPr txBox="1"/>
              <p:nvPr/>
            </p:nvSpPr>
            <p:spPr>
              <a:xfrm>
                <a:off x="465684" y="3594219"/>
                <a:ext cx="3152850" cy="6545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𝐿𝑆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{"/>
                              <m:endChr m:val="}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𝑡𝑟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𝑜𝑝𝑠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𝑓𝑖𝑛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𝐿𝑆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E30428E-6AD4-44B3-814B-B46D00BC4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84" y="3594219"/>
                <a:ext cx="3152850" cy="6545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4A3984-11C7-4A5F-A71C-F57986691ACB}"/>
                  </a:ext>
                </a:extLst>
              </p:cNvPr>
              <p:cNvSpPr txBox="1"/>
              <p:nvPr/>
            </p:nvSpPr>
            <p:spPr>
              <a:xfrm>
                <a:off x="3753169" y="3780694"/>
                <a:ext cx="16972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𝐿𝑆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4A3984-11C7-4A5F-A71C-F57986691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169" y="3780694"/>
                <a:ext cx="1697260" cy="276999"/>
              </a:xfrm>
              <a:prstGeom prst="rect">
                <a:avLst/>
              </a:prstGeom>
              <a:blipFill>
                <a:blip r:embed="rId6"/>
                <a:stretch>
                  <a:fillRect l="-719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93A227-D979-4241-9266-B66CA07BB96A}"/>
                  </a:ext>
                </a:extLst>
              </p:cNvPr>
              <p:cNvSpPr txBox="1"/>
              <p:nvPr/>
            </p:nvSpPr>
            <p:spPr>
              <a:xfrm>
                <a:off x="465684" y="4816113"/>
                <a:ext cx="1941942" cy="287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𝐿𝐸𝑂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93A227-D979-4241-9266-B66CA07BB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84" y="4816113"/>
                <a:ext cx="1941942" cy="287323"/>
              </a:xfrm>
              <a:prstGeom prst="rect">
                <a:avLst/>
              </a:prstGeom>
              <a:blipFill>
                <a:blip r:embed="rId7"/>
                <a:stretch>
                  <a:fillRect t="-6383" b="-191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CFD243-0000-4D5C-B5CF-F799C118C1FA}"/>
                  </a:ext>
                </a:extLst>
              </p:cNvPr>
              <p:cNvSpPr txBox="1"/>
              <p:nvPr/>
            </p:nvSpPr>
            <p:spPr>
              <a:xfrm>
                <a:off x="467544" y="5029241"/>
                <a:ext cx="5189369" cy="786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/</m:t>
                                      </m:r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−1 </m:t>
                          </m:r>
                        </m:sup>
                      </m:sSup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f>
                                        <m:f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)/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CFD243-0000-4D5C-B5CF-F799C118C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029241"/>
                <a:ext cx="5189369" cy="7862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E9728DF-79C0-4B7F-A72E-949EF8B7C75F}"/>
              </a:ext>
            </a:extLst>
          </p:cNvPr>
          <p:cNvSpPr txBox="1"/>
          <p:nvPr/>
        </p:nvSpPr>
        <p:spPr>
          <a:xfrm>
            <a:off x="465684" y="4437989"/>
            <a:ext cx="3619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Wright’s Law to estimate launch cost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A52E7C-824B-47EC-B4DD-B6351E98F715}"/>
              </a:ext>
            </a:extLst>
          </p:cNvPr>
          <p:cNvSpPr txBox="1"/>
          <p:nvPr/>
        </p:nvSpPr>
        <p:spPr>
          <a:xfrm>
            <a:off x="471605" y="3252977"/>
            <a:ext cx="2937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Lunar derived propellant cost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87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Literature Review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27E5DA-B7A0-42C7-9C2F-753C37C8B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ko-KR" sz="2000" dirty="0" err="1"/>
              <a:t>Gkaravela</a:t>
            </a:r>
            <a:r>
              <a:rPr lang="en-US" altLang="ko-KR" sz="2000" dirty="0"/>
              <a:t> et al., "Distributed Space Resource Logistics Architecture Optimization Under Economies of Scale," </a:t>
            </a:r>
            <a:r>
              <a:rPr lang="en-US" altLang="ko-KR" sz="2000" i="1" dirty="0"/>
              <a:t>J. Spacecraft Rockets</a:t>
            </a:r>
            <a:r>
              <a:rPr lang="en-US" altLang="ko-KR" sz="2000" dirty="0"/>
              <a:t> (2025)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9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BFA6BE-1C92-4673-A6BD-4BA943F03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130040"/>
            <a:ext cx="4104456" cy="158980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F252E98-3436-4E6D-A666-CAA62BEBB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3933056"/>
            <a:ext cx="4032448" cy="18179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853F2D-F258-4E67-B965-03D56D745F35}"/>
              </a:ext>
            </a:extLst>
          </p:cNvPr>
          <p:cNvSpPr txBox="1"/>
          <p:nvPr/>
        </p:nvSpPr>
        <p:spPr>
          <a:xfrm>
            <a:off x="5175503" y="2194686"/>
            <a:ext cx="3816424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Concentrated VS Distributed ISRU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TEN based logistics planning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Economies of Scale Models in ISRU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32EF63-0E30-4CA0-AD99-AF4402320566}"/>
              </a:ext>
            </a:extLst>
          </p:cNvPr>
          <p:cNvSpPr txBox="1"/>
          <p:nvPr/>
        </p:nvSpPr>
        <p:spPr>
          <a:xfrm>
            <a:off x="5274950" y="3624397"/>
            <a:ext cx="3816424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Mission scenarios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표 13">
            <a:extLst>
              <a:ext uri="{FF2B5EF4-FFF2-40B4-BE49-F238E27FC236}">
                <a16:creationId xmlns:a16="http://schemas.microsoft.com/office/drawing/2014/main" id="{970F7AF5-2ACB-49EF-825A-AC3DA7040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92232"/>
              </p:ext>
            </p:extLst>
          </p:nvPr>
        </p:nvGraphicFramePr>
        <p:xfrm>
          <a:off x="5274950" y="4089268"/>
          <a:ext cx="3600400" cy="1295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62084349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48958079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22629760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247084898"/>
                    </a:ext>
                  </a:extLst>
                </a:gridCol>
              </a:tblGrid>
              <a:tr h="215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  <a:endParaRPr lang="ko-KR" altLang="en-US" sz="11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Node</a:t>
                      </a:r>
                      <a:endParaRPr lang="ko-KR" altLang="en-US" sz="11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</a:t>
                      </a:r>
                      <a:endParaRPr lang="ko-KR" altLang="en-US" sz="11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Demand(kg)</a:t>
                      </a:r>
                      <a:endParaRPr lang="ko-KR" altLang="en-US" sz="11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663884"/>
                  </a:ext>
                </a:extLst>
              </a:tr>
              <a:tr h="215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Payload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GEO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Annually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25,000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2362862"/>
                  </a:ext>
                </a:extLst>
              </a:tr>
              <a:tr h="215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Oxygen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GEO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Annually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5,000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628227"/>
                  </a:ext>
                </a:extLst>
              </a:tr>
              <a:tr h="215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Oxygen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EML1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Annually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5,000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330545"/>
                  </a:ext>
                </a:extLst>
              </a:tr>
              <a:tr h="215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Payload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Moon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Annually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15,000</a:t>
                      </a:r>
                      <a:endParaRPr lang="ko-KR" altLang="en-US" sz="11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56970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670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Questions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10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F64097A-E354-4D38-B037-5E78DDB86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1400" dirty="0"/>
          </a:p>
          <a:p>
            <a:r>
              <a:rPr lang="en-US" altLang="ko-KR" sz="2000" dirty="0"/>
              <a:t>Research Questions</a:t>
            </a:r>
          </a:p>
          <a:p>
            <a:pPr lvl="1"/>
            <a:r>
              <a:rPr lang="en-US" altLang="ko-KR" sz="1800" dirty="0"/>
              <a:t>Can lunar ISRU reduce the cost of LEO→GEO payload delivery?</a:t>
            </a:r>
          </a:p>
          <a:p>
            <a:pPr lvl="1"/>
            <a:r>
              <a:rPr lang="en-US" altLang="ko-KR" sz="1800" dirty="0"/>
              <a:t>Under which demand and cost conditions does it become economical?</a:t>
            </a:r>
          </a:p>
        </p:txBody>
      </p:sp>
    </p:spTree>
    <p:extLst>
      <p:ext uri="{BB962C8B-B14F-4D97-AF65-F5344CB8AC3E}">
        <p14:creationId xmlns:p14="http://schemas.microsoft.com/office/powerpoint/2010/main" val="2028194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 - OTV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11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F64097A-E354-4D38-B037-5E78DDB86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589240" y="1104115"/>
            <a:ext cx="5350000" cy="5076000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US" altLang="ko-KR" sz="2200" dirty="0"/>
              <a:t>GEO: still the high-value orbit</a:t>
            </a:r>
          </a:p>
          <a:p>
            <a:pPr lvl="1"/>
            <a:r>
              <a:rPr lang="en-US" altLang="ko-KR" sz="1800" dirty="0"/>
              <a:t>24/7 regional coverage from a single satellite; ~$19B market (2025)</a:t>
            </a:r>
          </a:p>
          <a:p>
            <a:pPr lvl="1"/>
            <a:r>
              <a:rPr lang="en-US" altLang="ko-KR" sz="1800" dirty="0"/>
              <a:t>Small-GEO wave (Astranis, Swissto12) reviving order volume</a:t>
            </a:r>
          </a:p>
          <a:p>
            <a:endParaRPr lang="en-US" altLang="ko-KR" sz="1400" dirty="0"/>
          </a:p>
          <a:p>
            <a:r>
              <a:rPr lang="en-US" altLang="ko-KR" sz="2200" dirty="0"/>
              <a:t>Orbit raising is the bottleneck</a:t>
            </a:r>
          </a:p>
          <a:p>
            <a:pPr lvl="1"/>
            <a:r>
              <a:rPr lang="en-US" altLang="ko-KR" sz="1800" dirty="0"/>
              <a:t>LEO access is cheap — GEO delivery is not</a:t>
            </a:r>
          </a:p>
          <a:p>
            <a:pPr lvl="1"/>
            <a:r>
              <a:rPr lang="en-US" altLang="ko-KR" sz="1800" dirty="0"/>
              <a:t>Electric orbit raising: 6–9 months of lost revenue in the Van Allen belts</a:t>
            </a:r>
          </a:p>
          <a:p>
            <a:endParaRPr lang="en-US" altLang="ko-KR" sz="1400" dirty="0"/>
          </a:p>
          <a:p>
            <a:r>
              <a:rPr lang="en-US" altLang="ko-KR" sz="2200" dirty="0"/>
              <a:t>OTV industry is scaling up</a:t>
            </a:r>
          </a:p>
          <a:p>
            <a:pPr lvl="1"/>
            <a:r>
              <a:rPr lang="en-US" altLang="ko-KR" sz="1800" dirty="0"/>
              <a:t>Space-tug market: ~$1.2B (2026) → $5.3B by 2034 (CAGR ~20%)</a:t>
            </a:r>
          </a:p>
          <a:p>
            <a:pPr lvl="1"/>
            <a:r>
              <a:rPr lang="en-US" altLang="ko-KR" sz="1800" dirty="0"/>
              <a:t>Impulse Helios: LEO→GEO in &lt; 24 h; SES multi-launch deal from 2027</a:t>
            </a:r>
          </a:p>
          <a:p>
            <a:endParaRPr lang="en-US" altLang="ko-KR" sz="1400" dirty="0"/>
          </a:p>
          <a:p>
            <a:r>
              <a:rPr lang="en-US" altLang="ko-KR" sz="2200" b="1" dirty="0"/>
              <a:t>→ Chemical OTV service = recurring in-space propellant demand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C9EA4D-6935-468F-942A-5A25D5FC3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464817"/>
            <a:ext cx="3491880" cy="19641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9B79758-D584-4FC6-9429-62040095B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152" y="1340768"/>
            <a:ext cx="3563888" cy="200433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349661-0AFE-4504-A797-DA5AD3CE5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4329" y="3190037"/>
            <a:ext cx="3313611" cy="18320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00B9893-EB9F-4CA4-92CF-CAF038A976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7824" y="4227898"/>
            <a:ext cx="3491880" cy="200269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0A0C3BD-9119-49FB-AFC9-7307042DE7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784" y="3326198"/>
            <a:ext cx="2376264" cy="185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1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그림 74">
            <a:extLst>
              <a:ext uri="{FF2B5EF4-FFF2-40B4-BE49-F238E27FC236}">
                <a16:creationId xmlns:a16="http://schemas.microsoft.com/office/drawing/2014/main" id="{A42A5221-B3DE-44C2-8C2C-E3F7FAEB68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48" t="31265" r="23226" b="31163"/>
          <a:stretch/>
        </p:blipFill>
        <p:spPr>
          <a:xfrm rot="5400000">
            <a:off x="3485426" y="5140352"/>
            <a:ext cx="347717" cy="155501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A91385FF-72A9-41F4-AD7A-FDAFC3D8EA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900" t="15112" r="8833" b="13305"/>
          <a:stretch/>
        </p:blipFill>
        <p:spPr>
          <a:xfrm>
            <a:off x="3531777" y="4775987"/>
            <a:ext cx="276386" cy="16432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12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A0EEDF-5388-4F90-BD0E-B6FD5EDC5C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40" y="2436908"/>
            <a:ext cx="1584176" cy="1588702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7E7B06A0-209A-4E4D-91FC-16E794A6E9B9}"/>
              </a:ext>
            </a:extLst>
          </p:cNvPr>
          <p:cNvSpPr/>
          <p:nvPr/>
        </p:nvSpPr>
        <p:spPr>
          <a:xfrm>
            <a:off x="2275574" y="2872396"/>
            <a:ext cx="182562" cy="182562"/>
          </a:xfrm>
          <a:prstGeom prst="ellipse">
            <a:avLst/>
          </a:prstGeom>
          <a:solidFill>
            <a:srgbClr val="FFC000"/>
          </a:solidFill>
          <a:ln w="6350">
            <a:solidFill>
              <a:srgbClr val="C59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B984DEF-6C41-497B-9064-6A61E187B47A}"/>
              </a:ext>
            </a:extLst>
          </p:cNvPr>
          <p:cNvSpPr/>
          <p:nvPr/>
        </p:nvSpPr>
        <p:spPr>
          <a:xfrm>
            <a:off x="2989380" y="2288567"/>
            <a:ext cx="182562" cy="182562"/>
          </a:xfrm>
          <a:prstGeom prst="ellipse">
            <a:avLst/>
          </a:prstGeom>
          <a:solidFill>
            <a:srgbClr val="FFC000"/>
          </a:solidFill>
          <a:ln w="6350">
            <a:solidFill>
              <a:srgbClr val="C59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08164FC-14F9-42A8-9E99-4C731246A41A}"/>
              </a:ext>
            </a:extLst>
          </p:cNvPr>
          <p:cNvSpPr/>
          <p:nvPr/>
        </p:nvSpPr>
        <p:spPr>
          <a:xfrm>
            <a:off x="3349420" y="3632665"/>
            <a:ext cx="182562" cy="182562"/>
          </a:xfrm>
          <a:prstGeom prst="ellipse">
            <a:avLst/>
          </a:prstGeom>
          <a:solidFill>
            <a:srgbClr val="FFC000"/>
          </a:solidFill>
          <a:ln w="6350">
            <a:solidFill>
              <a:srgbClr val="C59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8619C3C5-48BC-466E-91DF-1E1B9FEC7C74}"/>
              </a:ext>
            </a:extLst>
          </p:cNvPr>
          <p:cNvSpPr/>
          <p:nvPr/>
        </p:nvSpPr>
        <p:spPr>
          <a:xfrm>
            <a:off x="5840515" y="3181250"/>
            <a:ext cx="182562" cy="182562"/>
          </a:xfrm>
          <a:prstGeom prst="ellipse">
            <a:avLst/>
          </a:prstGeom>
          <a:solidFill>
            <a:srgbClr val="FFC000"/>
          </a:solidFill>
          <a:ln w="6350">
            <a:solidFill>
              <a:srgbClr val="C59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B939AC8-6227-42E0-A171-022BBE3D56A6}"/>
              </a:ext>
            </a:extLst>
          </p:cNvPr>
          <p:cNvSpPr/>
          <p:nvPr/>
        </p:nvSpPr>
        <p:spPr>
          <a:xfrm>
            <a:off x="6808161" y="4328749"/>
            <a:ext cx="182562" cy="182562"/>
          </a:xfrm>
          <a:prstGeom prst="ellipse">
            <a:avLst/>
          </a:prstGeom>
          <a:solidFill>
            <a:srgbClr val="FFC000"/>
          </a:solidFill>
          <a:ln w="6350">
            <a:solidFill>
              <a:srgbClr val="C59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A19D522-1972-405B-8435-8EF1CD9B3744}"/>
              </a:ext>
            </a:extLst>
          </p:cNvPr>
          <p:cNvSpPr/>
          <p:nvPr/>
        </p:nvSpPr>
        <p:spPr>
          <a:xfrm>
            <a:off x="6402973" y="2724520"/>
            <a:ext cx="182562" cy="182562"/>
          </a:xfrm>
          <a:prstGeom prst="ellipse">
            <a:avLst/>
          </a:prstGeom>
          <a:solidFill>
            <a:srgbClr val="FFC000"/>
          </a:solidFill>
          <a:ln w="6350">
            <a:solidFill>
              <a:srgbClr val="C59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A312201-413F-4054-8E11-F7DE527B52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1960" y="2767104"/>
            <a:ext cx="928310" cy="9283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853B41-228E-4484-9579-9E95500CF722}"/>
              </a:ext>
            </a:extLst>
          </p:cNvPr>
          <p:cNvSpPr txBox="1"/>
          <p:nvPr/>
        </p:nvSpPr>
        <p:spPr>
          <a:xfrm>
            <a:off x="2339184" y="2970300"/>
            <a:ext cx="463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35E75E-C067-4F7F-92A0-469F6E06F4FD}"/>
              </a:ext>
            </a:extLst>
          </p:cNvPr>
          <p:cNvSpPr txBox="1"/>
          <p:nvPr/>
        </p:nvSpPr>
        <p:spPr>
          <a:xfrm>
            <a:off x="2672638" y="2020968"/>
            <a:ext cx="499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GTO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37EA83-0FA1-4F1D-B73A-7494F5AA9211}"/>
              </a:ext>
            </a:extLst>
          </p:cNvPr>
          <p:cNvSpPr txBox="1"/>
          <p:nvPr/>
        </p:nvSpPr>
        <p:spPr>
          <a:xfrm>
            <a:off x="3447969" y="3740728"/>
            <a:ext cx="502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089F29-EAB6-4362-AA99-E1EDF9AB6E99}"/>
              </a:ext>
            </a:extLst>
          </p:cNvPr>
          <p:cNvSpPr txBox="1"/>
          <p:nvPr/>
        </p:nvSpPr>
        <p:spPr>
          <a:xfrm>
            <a:off x="5828475" y="3344582"/>
            <a:ext cx="593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EML1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531FAC-6AE3-449D-8F1D-E6AC2F5D08E6}"/>
              </a:ext>
            </a:extLst>
          </p:cNvPr>
          <p:cNvSpPr txBox="1"/>
          <p:nvPr/>
        </p:nvSpPr>
        <p:spPr>
          <a:xfrm>
            <a:off x="6358166" y="2494582"/>
            <a:ext cx="4499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E6B41A-7CCF-42B0-9A06-7F6531C1A7AB}"/>
              </a:ext>
            </a:extLst>
          </p:cNvPr>
          <p:cNvSpPr txBox="1"/>
          <p:nvPr/>
        </p:nvSpPr>
        <p:spPr>
          <a:xfrm>
            <a:off x="6899477" y="4112253"/>
            <a:ext cx="6399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NRHO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F498AC-795D-454C-A044-85773535DE6A}"/>
              </a:ext>
            </a:extLst>
          </p:cNvPr>
          <p:cNvSpPr txBox="1"/>
          <p:nvPr/>
        </p:nvSpPr>
        <p:spPr>
          <a:xfrm>
            <a:off x="7224246" y="3456830"/>
            <a:ext cx="630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Moon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A5DA7F3-2669-4374-940A-8AE2E26F03C5}"/>
              </a:ext>
            </a:extLst>
          </p:cNvPr>
          <p:cNvSpPr/>
          <p:nvPr/>
        </p:nvSpPr>
        <p:spPr>
          <a:xfrm>
            <a:off x="6661788" y="3178428"/>
            <a:ext cx="182562" cy="182562"/>
          </a:xfrm>
          <a:prstGeom prst="ellipse">
            <a:avLst/>
          </a:prstGeom>
          <a:solidFill>
            <a:srgbClr val="FFC000"/>
          </a:solidFill>
          <a:ln w="6350">
            <a:solidFill>
              <a:srgbClr val="C59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7DCB6D-C4A6-44A7-BC45-DB8B2025A04E}"/>
              </a:ext>
            </a:extLst>
          </p:cNvPr>
          <p:cNvSpPr txBox="1"/>
          <p:nvPr/>
        </p:nvSpPr>
        <p:spPr>
          <a:xfrm>
            <a:off x="1862431" y="3744749"/>
            <a:ext cx="581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Earth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C5E003A-D34F-4C80-AB2E-B11485613FBF}"/>
              </a:ext>
            </a:extLst>
          </p:cNvPr>
          <p:cNvCxnSpPr>
            <a:cxnSpLocks/>
          </p:cNvCxnSpPr>
          <p:nvPr/>
        </p:nvCxnSpPr>
        <p:spPr>
          <a:xfrm flipV="1">
            <a:off x="2428772" y="2446400"/>
            <a:ext cx="584716" cy="454739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667B125-B611-4C0A-8894-030BF55E79D2}"/>
              </a:ext>
            </a:extLst>
          </p:cNvPr>
          <p:cNvCxnSpPr>
            <a:stCxn id="7" idx="6"/>
            <a:endCxn id="7" idx="6"/>
          </p:cNvCxnSpPr>
          <p:nvPr/>
        </p:nvCxnSpPr>
        <p:spPr>
          <a:xfrm>
            <a:off x="2458136" y="296367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1F2E6E3-F777-4188-83D3-BD1BAA2877BE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2431400" y="3028222"/>
            <a:ext cx="944756" cy="631179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3B6E6FD-C7A9-41B5-8A15-96031894077C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2458136" y="2963677"/>
            <a:ext cx="3382379" cy="308854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D32F894-FF1D-4A49-9CCC-FC7164D56FFB}"/>
              </a:ext>
            </a:extLst>
          </p:cNvPr>
          <p:cNvCxnSpPr>
            <a:cxnSpLocks/>
            <a:stCxn id="8" idx="5"/>
            <a:endCxn id="10" idx="2"/>
          </p:cNvCxnSpPr>
          <p:nvPr/>
        </p:nvCxnSpPr>
        <p:spPr>
          <a:xfrm>
            <a:off x="3145206" y="2444393"/>
            <a:ext cx="2695309" cy="828138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0869637-E78E-46E1-AB78-547A7B1D30A7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H="1" flipV="1">
            <a:off x="3080661" y="2471129"/>
            <a:ext cx="360040" cy="1161536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808B0F1-90D3-406A-92C3-1C58229ED261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 flipV="1">
            <a:off x="3531982" y="3272531"/>
            <a:ext cx="2308533" cy="451415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E92198A-E731-4607-A96C-B37CCAFA6E2D}"/>
              </a:ext>
            </a:extLst>
          </p:cNvPr>
          <p:cNvCxnSpPr>
            <a:cxnSpLocks/>
            <a:stCxn id="10" idx="7"/>
            <a:endCxn id="12" idx="3"/>
          </p:cNvCxnSpPr>
          <p:nvPr/>
        </p:nvCxnSpPr>
        <p:spPr>
          <a:xfrm flipV="1">
            <a:off x="5996341" y="2880346"/>
            <a:ext cx="433368" cy="32764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1A921AF-014C-441D-A350-35A7CDC531CF}"/>
              </a:ext>
            </a:extLst>
          </p:cNvPr>
          <p:cNvCxnSpPr>
            <a:cxnSpLocks/>
            <a:stCxn id="12" idx="5"/>
            <a:endCxn id="21" idx="1"/>
          </p:cNvCxnSpPr>
          <p:nvPr/>
        </p:nvCxnSpPr>
        <p:spPr>
          <a:xfrm>
            <a:off x="6558799" y="2880346"/>
            <a:ext cx="129725" cy="324818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CD1478D-0BFD-469E-9249-63DFF7ACDCAD}"/>
              </a:ext>
            </a:extLst>
          </p:cNvPr>
          <p:cNvCxnSpPr>
            <a:cxnSpLocks/>
            <a:stCxn id="8" idx="6"/>
            <a:endCxn id="12" idx="1"/>
          </p:cNvCxnSpPr>
          <p:nvPr/>
        </p:nvCxnSpPr>
        <p:spPr>
          <a:xfrm>
            <a:off x="3171942" y="2379848"/>
            <a:ext cx="3257767" cy="371408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D5DBA77-244C-4B50-AC21-3F11D9E083D3}"/>
              </a:ext>
            </a:extLst>
          </p:cNvPr>
          <p:cNvCxnSpPr>
            <a:cxnSpLocks/>
            <a:stCxn id="8" idx="5"/>
            <a:endCxn id="11" idx="2"/>
          </p:cNvCxnSpPr>
          <p:nvPr/>
        </p:nvCxnSpPr>
        <p:spPr>
          <a:xfrm>
            <a:off x="3145206" y="2444393"/>
            <a:ext cx="3662955" cy="1975637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7BDC036-881A-4E68-9425-FA8EF870ECDA}"/>
              </a:ext>
            </a:extLst>
          </p:cNvPr>
          <p:cNvCxnSpPr>
            <a:cxnSpLocks/>
            <a:stCxn id="9" idx="6"/>
            <a:endCxn id="12" idx="3"/>
          </p:cNvCxnSpPr>
          <p:nvPr/>
        </p:nvCxnSpPr>
        <p:spPr>
          <a:xfrm flipV="1">
            <a:off x="3531982" y="2880346"/>
            <a:ext cx="2897727" cy="84360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02CA965-6B39-49E9-AD77-19C6E075E0E7}"/>
              </a:ext>
            </a:extLst>
          </p:cNvPr>
          <p:cNvCxnSpPr>
            <a:cxnSpLocks/>
            <a:stCxn id="12" idx="4"/>
            <a:endCxn id="11" idx="0"/>
          </p:cNvCxnSpPr>
          <p:nvPr/>
        </p:nvCxnSpPr>
        <p:spPr>
          <a:xfrm>
            <a:off x="6494254" y="2907082"/>
            <a:ext cx="405188" cy="1421667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40A71D2-970E-42E1-9A53-3E25362ACA99}"/>
              </a:ext>
            </a:extLst>
          </p:cNvPr>
          <p:cNvCxnSpPr>
            <a:cxnSpLocks/>
            <a:stCxn id="10" idx="5"/>
            <a:endCxn id="11" idx="1"/>
          </p:cNvCxnSpPr>
          <p:nvPr/>
        </p:nvCxnSpPr>
        <p:spPr>
          <a:xfrm>
            <a:off x="5996341" y="3337076"/>
            <a:ext cx="838556" cy="1018409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FF20488-6F68-4A6E-A9D8-C36E0735776F}"/>
              </a:ext>
            </a:extLst>
          </p:cNvPr>
          <p:cNvCxnSpPr>
            <a:cxnSpLocks/>
            <a:stCxn id="21" idx="4"/>
            <a:endCxn id="11" idx="0"/>
          </p:cNvCxnSpPr>
          <p:nvPr/>
        </p:nvCxnSpPr>
        <p:spPr>
          <a:xfrm>
            <a:off x="6753069" y="3360990"/>
            <a:ext cx="146373" cy="967759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9174F3E-CAA1-41AA-AA70-524FDDDF837F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6019694" y="3269709"/>
            <a:ext cx="642094" cy="8036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1A1BFBE-EF9C-4D15-9B60-7D57D5E35897}"/>
              </a:ext>
            </a:extLst>
          </p:cNvPr>
          <p:cNvCxnSpPr>
            <a:cxnSpLocks/>
            <a:stCxn id="9" idx="6"/>
            <a:endCxn id="21" idx="3"/>
          </p:cNvCxnSpPr>
          <p:nvPr/>
        </p:nvCxnSpPr>
        <p:spPr>
          <a:xfrm flipV="1">
            <a:off x="3531982" y="3334254"/>
            <a:ext cx="3156542" cy="389692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61512DB-2598-4605-B665-7EFE3D5B883D}"/>
              </a:ext>
            </a:extLst>
          </p:cNvPr>
          <p:cNvCxnSpPr>
            <a:cxnSpLocks/>
            <a:stCxn id="8" idx="5"/>
            <a:endCxn id="21" idx="2"/>
          </p:cNvCxnSpPr>
          <p:nvPr/>
        </p:nvCxnSpPr>
        <p:spPr>
          <a:xfrm>
            <a:off x="3145206" y="2444393"/>
            <a:ext cx="3516582" cy="825316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A925CF0-CF13-4171-BBC7-0BDDE84A834D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956871" y="2751256"/>
            <a:ext cx="318703" cy="212421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그래픽 42" descr="공장 단색으로 채워진">
            <a:extLst>
              <a:ext uri="{FF2B5EF4-FFF2-40B4-BE49-F238E27FC236}">
                <a16:creationId xmlns:a16="http://schemas.microsoft.com/office/drawing/2014/main" id="{544893EA-82BD-4F46-B573-71E214309C0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14125" y="2989659"/>
            <a:ext cx="256509" cy="256509"/>
          </a:xfrm>
          <a:prstGeom prst="rect">
            <a:avLst/>
          </a:prstGeom>
        </p:spPr>
      </p:pic>
      <p:pic>
        <p:nvPicPr>
          <p:cNvPr id="44" name="그래픽 43" descr="공장 단색으로 채워진">
            <a:extLst>
              <a:ext uri="{FF2B5EF4-FFF2-40B4-BE49-F238E27FC236}">
                <a16:creationId xmlns:a16="http://schemas.microsoft.com/office/drawing/2014/main" id="{E5105705-B3B4-45D6-9D56-97F6E008635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85957" y="2487038"/>
            <a:ext cx="276484" cy="276484"/>
          </a:xfrm>
          <a:prstGeom prst="rect">
            <a:avLst/>
          </a:prstGeom>
        </p:spPr>
      </p:pic>
      <p:pic>
        <p:nvPicPr>
          <p:cNvPr id="45" name="그래픽 44" descr="공장 단색으로 채워진">
            <a:extLst>
              <a:ext uri="{FF2B5EF4-FFF2-40B4-BE49-F238E27FC236}">
                <a16:creationId xmlns:a16="http://schemas.microsoft.com/office/drawing/2014/main" id="{D40D1079-F542-4F91-BDEE-14DC77E86DA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8726" y="4364144"/>
            <a:ext cx="276484" cy="27648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11DFDFD-C6A8-4CCE-A7E1-A6B03C17D226}"/>
              </a:ext>
            </a:extLst>
          </p:cNvPr>
          <p:cNvSpPr txBox="1"/>
          <p:nvPr/>
        </p:nvSpPr>
        <p:spPr>
          <a:xfrm>
            <a:off x="1634657" y="4331815"/>
            <a:ext cx="721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SWE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EBFDD1A1-508B-48AC-9E7E-A81C44CDE7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7396" y="4761485"/>
            <a:ext cx="306764" cy="21712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8D0B0D5-698F-4C9E-A677-5D3B6A20F6B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26" y="5086968"/>
            <a:ext cx="266656" cy="26665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2F4F6BB-BC76-4C3D-B1C0-E2651FD1D8F0}"/>
              </a:ext>
            </a:extLst>
          </p:cNvPr>
          <p:cNvSpPr txBox="1"/>
          <p:nvPr/>
        </p:nvSpPr>
        <p:spPr>
          <a:xfrm>
            <a:off x="1634657" y="4684495"/>
            <a:ext cx="1179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Fuel Tank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B138DE-CDC7-4608-92CA-9281951D3FE2}"/>
              </a:ext>
            </a:extLst>
          </p:cNvPr>
          <p:cNvSpPr txBox="1"/>
          <p:nvPr/>
        </p:nvSpPr>
        <p:spPr>
          <a:xfrm>
            <a:off x="1634657" y="5019881"/>
            <a:ext cx="1643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Resource Tank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7131F8C8-E4B4-47F4-803F-C28B9A1A5DBF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97" t="17614" r="18101" b="17287"/>
          <a:stretch/>
        </p:blipFill>
        <p:spPr>
          <a:xfrm>
            <a:off x="1320831" y="5471125"/>
            <a:ext cx="210793" cy="21712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7B1EB49-C495-46D7-A230-8EB550BB1D53}"/>
              </a:ext>
            </a:extLst>
          </p:cNvPr>
          <p:cNvSpPr txBox="1"/>
          <p:nvPr/>
        </p:nvSpPr>
        <p:spPr>
          <a:xfrm>
            <a:off x="1634656" y="5380317"/>
            <a:ext cx="1031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Payload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701FB03-B9CD-4A14-85B0-D2C99E28600F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>
            <a:off x="3531982" y="3723946"/>
            <a:ext cx="3276179" cy="696084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AC35175-2883-4927-86CA-52567505AA51}"/>
              </a:ext>
            </a:extLst>
          </p:cNvPr>
          <p:cNvSpPr txBox="1"/>
          <p:nvPr/>
        </p:nvSpPr>
        <p:spPr>
          <a:xfrm>
            <a:off x="3852731" y="4328749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DWE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D829E1-C3F9-470B-B3E3-87F923EAD905}"/>
              </a:ext>
            </a:extLst>
          </p:cNvPr>
          <p:cNvSpPr txBox="1"/>
          <p:nvPr/>
        </p:nvSpPr>
        <p:spPr>
          <a:xfrm>
            <a:off x="3854413" y="5019881"/>
            <a:ext cx="68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OTV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FA9552-A15B-4A50-BAC5-451747621422}"/>
              </a:ext>
            </a:extLst>
          </p:cNvPr>
          <p:cNvSpPr txBox="1"/>
          <p:nvPr/>
        </p:nvSpPr>
        <p:spPr>
          <a:xfrm>
            <a:off x="3852731" y="4684495"/>
            <a:ext cx="1197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H2O Tank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C72BA17-6FE5-413E-AB84-C88AE95AAD76}"/>
              </a:ext>
            </a:extLst>
          </p:cNvPr>
          <p:cNvGrpSpPr/>
          <p:nvPr/>
        </p:nvGrpSpPr>
        <p:grpSpPr>
          <a:xfrm>
            <a:off x="3572343" y="4470753"/>
            <a:ext cx="195254" cy="118605"/>
            <a:chOff x="3291822" y="4477952"/>
            <a:chExt cx="195254" cy="118605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0E1E5ABA-C015-44DE-ACFC-69E473DAD277}"/>
                </a:ext>
              </a:extLst>
            </p:cNvPr>
            <p:cNvSpPr/>
            <p:nvPr/>
          </p:nvSpPr>
          <p:spPr>
            <a:xfrm>
              <a:off x="3291823" y="4528092"/>
              <a:ext cx="195253" cy="684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2375919E-E051-4C3B-9A88-13079F9FF9F3}"/>
                </a:ext>
              </a:extLst>
            </p:cNvPr>
            <p:cNvSpPr/>
            <p:nvPr/>
          </p:nvSpPr>
          <p:spPr>
            <a:xfrm>
              <a:off x="3291822" y="4477952"/>
              <a:ext cx="195253" cy="8746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27AAD232-492D-4863-B362-6561ED7932EC}"/>
                </a:ext>
              </a:extLst>
            </p:cNvPr>
            <p:cNvSpPr/>
            <p:nvPr/>
          </p:nvSpPr>
          <p:spPr>
            <a:xfrm>
              <a:off x="3310276" y="4543188"/>
              <a:ext cx="36000" cy="25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B03B0810-9F46-406A-A4AC-F5B6B94BEE96}"/>
                </a:ext>
              </a:extLst>
            </p:cNvPr>
            <p:cNvSpPr/>
            <p:nvPr/>
          </p:nvSpPr>
          <p:spPr>
            <a:xfrm>
              <a:off x="3371168" y="4543292"/>
              <a:ext cx="36000" cy="25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F1B0C97D-5B43-4F1B-ABBA-A1C556645861}"/>
                </a:ext>
              </a:extLst>
            </p:cNvPr>
            <p:cNvSpPr/>
            <p:nvPr/>
          </p:nvSpPr>
          <p:spPr>
            <a:xfrm>
              <a:off x="3429969" y="4543188"/>
              <a:ext cx="36000" cy="25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25F6720-A750-4F43-9E65-86726C867DB5}"/>
              </a:ext>
            </a:extLst>
          </p:cNvPr>
          <p:cNvGrpSpPr/>
          <p:nvPr/>
        </p:nvGrpSpPr>
        <p:grpSpPr>
          <a:xfrm>
            <a:off x="7060198" y="3089381"/>
            <a:ext cx="195254" cy="118605"/>
            <a:chOff x="3291822" y="4477952"/>
            <a:chExt cx="195254" cy="118605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C24200BD-5819-4BD6-9060-295A6AC88D17}"/>
                </a:ext>
              </a:extLst>
            </p:cNvPr>
            <p:cNvSpPr/>
            <p:nvPr/>
          </p:nvSpPr>
          <p:spPr>
            <a:xfrm>
              <a:off x="3291823" y="4528092"/>
              <a:ext cx="195253" cy="684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78AA1C92-8677-4BFB-90B5-B18A15B4FBB9}"/>
                </a:ext>
              </a:extLst>
            </p:cNvPr>
            <p:cNvSpPr/>
            <p:nvPr/>
          </p:nvSpPr>
          <p:spPr>
            <a:xfrm>
              <a:off x="3291822" y="4477952"/>
              <a:ext cx="195253" cy="8746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140284B3-87F3-43B3-B435-B92741A7DC32}"/>
                </a:ext>
              </a:extLst>
            </p:cNvPr>
            <p:cNvSpPr/>
            <p:nvPr/>
          </p:nvSpPr>
          <p:spPr>
            <a:xfrm>
              <a:off x="3310276" y="4543188"/>
              <a:ext cx="36000" cy="25200"/>
            </a:xfrm>
            <a:prstGeom prst="rect">
              <a:avLst/>
            </a:prstGeom>
            <a:solidFill>
              <a:srgbClr val="A5A6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263D9FA7-2EA3-4D56-B607-59A05A560275}"/>
                </a:ext>
              </a:extLst>
            </p:cNvPr>
            <p:cNvSpPr/>
            <p:nvPr/>
          </p:nvSpPr>
          <p:spPr>
            <a:xfrm>
              <a:off x="3371168" y="4543292"/>
              <a:ext cx="36000" cy="25200"/>
            </a:xfrm>
            <a:prstGeom prst="rect">
              <a:avLst/>
            </a:prstGeom>
            <a:solidFill>
              <a:srgbClr val="A5A6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F2B1F861-2D23-4F5B-A841-20F318D29886}"/>
                </a:ext>
              </a:extLst>
            </p:cNvPr>
            <p:cNvSpPr/>
            <p:nvPr/>
          </p:nvSpPr>
          <p:spPr>
            <a:xfrm>
              <a:off x="3429969" y="4543188"/>
              <a:ext cx="36000" cy="25200"/>
            </a:xfrm>
            <a:prstGeom prst="rect">
              <a:avLst/>
            </a:prstGeom>
            <a:solidFill>
              <a:srgbClr val="A5A6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화살표: 아래쪽 2">
            <a:extLst>
              <a:ext uri="{FF2B5EF4-FFF2-40B4-BE49-F238E27FC236}">
                <a16:creationId xmlns:a16="http://schemas.microsoft.com/office/drawing/2014/main" id="{643B5E9B-8011-40FA-9C63-B0A3A469B0F1}"/>
              </a:ext>
            </a:extLst>
          </p:cNvPr>
          <p:cNvSpPr/>
          <p:nvPr/>
        </p:nvSpPr>
        <p:spPr>
          <a:xfrm>
            <a:off x="3352944" y="3357496"/>
            <a:ext cx="173109" cy="2373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7B21E8E-EA73-405F-B82E-9227BD48E1C2}"/>
              </a:ext>
            </a:extLst>
          </p:cNvPr>
          <p:cNvSpPr txBox="1"/>
          <p:nvPr/>
        </p:nvSpPr>
        <p:spPr>
          <a:xfrm>
            <a:off x="3809608" y="5380317"/>
            <a:ext cx="1933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Payload Demand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화살표: 아래쪽 80">
            <a:extLst>
              <a:ext uri="{FF2B5EF4-FFF2-40B4-BE49-F238E27FC236}">
                <a16:creationId xmlns:a16="http://schemas.microsoft.com/office/drawing/2014/main" id="{9CB59B22-6CFE-4726-AA46-2F252B870B60}"/>
              </a:ext>
            </a:extLst>
          </p:cNvPr>
          <p:cNvSpPr/>
          <p:nvPr/>
        </p:nvSpPr>
        <p:spPr>
          <a:xfrm>
            <a:off x="3578747" y="5476373"/>
            <a:ext cx="167743" cy="2118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529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 - Objective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13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C1CB6F-33D2-4341-B922-4A9A10841203}"/>
                  </a:ext>
                </a:extLst>
              </p:cNvPr>
              <p:cNvSpPr txBox="1"/>
              <p:nvPr/>
            </p:nvSpPr>
            <p:spPr>
              <a:xfrm>
                <a:off x="899592" y="1916832"/>
                <a:ext cx="3226524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𝑐𝑎𝑝𝑒𝑥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𝑐𝑦𝑐𝑙𝑒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𝑜𝑝𝑒𝑥</m:t>
                          </m:r>
                        </m:sub>
                      </m:sSub>
                    </m:oMath>
                  </m:oMathPara>
                </a14:m>
                <a:endParaRPr lang="en-US" altLang="ko-KR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2C1CB6F-33D2-4341-B922-4A9A10841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916832"/>
                <a:ext cx="3226524" cy="391261"/>
              </a:xfrm>
              <a:prstGeom prst="rect">
                <a:avLst/>
              </a:prstGeom>
              <a:blipFill>
                <a:blip r:embed="rId3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F50F7C-D19B-460D-A4D0-E15C0A2300E3}"/>
                  </a:ext>
                </a:extLst>
              </p:cNvPr>
              <p:cNvSpPr txBox="1"/>
              <p:nvPr/>
            </p:nvSpPr>
            <p:spPr>
              <a:xfrm>
                <a:off x="683568" y="2567386"/>
                <a:ext cx="7992888" cy="16475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𝑐𝑎𝑝𝑒𝑥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𝑚𝑎𝑛𝑢𝑓𝑎𝑐𝑡𝑢𝑟𝑒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𝑡𝑟𝑎𝑛𝑠𝑓𝑒𝑟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𝑓𝑖𝑥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𝑣𝑒h𝑖𝑐𝑙𝑒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𝑡𝑟𝑎𝑛𝑠𝑓𝑒𝑟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𝑎𝑛𝑘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𝑡𝑎𝑛𝑘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𝑡𝑟𝑎𝑛𝑠𝑓𝑒𝑟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𝑇𝑘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𝑓𝑖𝑟𝑠𝑡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F50F7C-D19B-460D-A4D0-E15C0A230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2567386"/>
                <a:ext cx="7992888" cy="1647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B71138-F95D-4857-8A55-2617202AE402}"/>
                  </a:ext>
                </a:extLst>
              </p:cNvPr>
              <p:cNvSpPr txBox="1"/>
              <p:nvPr/>
            </p:nvSpPr>
            <p:spPr>
              <a:xfrm>
                <a:off x="1043608" y="4474246"/>
                <a:ext cx="5184576" cy="7561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𝑜𝑝𝑒𝑥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𝑚𝑎𝑖𝑛𝑡𝑎𝑖𝑛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𝑠𝑒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𝑝𝑟𝑜𝑝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𝑃𝑟𝑜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𝑒𝑎𝑟𝑡h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B71138-F95D-4857-8A55-2617202AE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474246"/>
                <a:ext cx="5184576" cy="756169"/>
              </a:xfrm>
              <a:prstGeom prst="rect">
                <a:avLst/>
              </a:prstGeom>
              <a:blipFill>
                <a:blip r:embed="rId5"/>
                <a:stretch>
                  <a:fillRect l="-4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8867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 – Decision Variables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14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DA1A0E-F5CC-4E31-8E99-5B4C611E7F67}"/>
                  </a:ext>
                </a:extLst>
              </p:cNvPr>
              <p:cNvSpPr txBox="1"/>
              <p:nvPr/>
            </p:nvSpPr>
            <p:spPr>
              <a:xfrm>
                <a:off x="539552" y="1844824"/>
                <a:ext cx="4505016" cy="34710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𝑣𝑖𝑗𝑡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Commodity outflow vector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𝑣𝑖𝑗𝑡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Commodity inflow vector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𝑣𝑖𝑗𝑡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 Number of spacecraft v flying arc </a:t>
                </a:r>
                <a:r>
                  <a:rPr lang="en-US" altLang="ko-KR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ij</a:t>
                </a:r>
                <a: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t</a:t>
                </a:r>
                <a:b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Mass for facility 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𝑌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Binary variable indicating if facility e is used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𝑃𝑟𝑜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𝑒𝑎𝑟𝑡h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Propellant supplied from Earth at t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𝑻𝑲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𝑓𝑖𝑟𝑠𝑡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H2O/propellant tank for RT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𝑵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 Number of deployed vehicle v</a:t>
                </a:r>
                <a:endParaRPr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DA1A0E-F5CC-4E31-8E99-5B4C611E7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844824"/>
                <a:ext cx="4505016" cy="3471078"/>
              </a:xfrm>
              <a:prstGeom prst="rect">
                <a:avLst/>
              </a:prstGeom>
              <a:blipFill>
                <a:blip r:embed="rId3"/>
                <a:stretch>
                  <a:fillRect l="-1894" r="-2300" b="-31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53B310-936A-4D33-9D44-C4FAFF8D8437}"/>
                  </a:ext>
                </a:extLst>
              </p:cNvPr>
              <p:cNvSpPr txBox="1"/>
              <p:nvPr/>
            </p:nvSpPr>
            <p:spPr>
              <a:xfrm>
                <a:off x="6045280" y="2087609"/>
                <a:ext cx="2322879" cy="1390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𝑣𝑖𝑗𝑡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𝑃𝑎𝑦𝑙𝑜𝑎𝑑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𝑃𝑟𝑜𝑝𝑒𝑙𝑙𝑎𝑛𝑡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𝑇𝑎𝑛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𝑇𝑎𝑛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𝑃𝑟𝑜𝑝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53B310-936A-4D33-9D44-C4FAFF8D8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280" y="2087609"/>
                <a:ext cx="2322879" cy="13901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B61EAF-AE43-403D-9500-7C7900D41615}"/>
                  </a:ext>
                </a:extLst>
              </p:cNvPr>
              <p:cNvSpPr txBox="1"/>
              <p:nvPr/>
            </p:nvSpPr>
            <p:spPr>
              <a:xfrm>
                <a:off x="4582232" y="3933056"/>
                <a:ext cx="4343368" cy="575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𝑆𝑊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𝑀𝑜𝑜𝑛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𝐷𝑊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b="0" dirty="0">
                    <a:ea typeface="Cambria Math" panose="020405030504060302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𝑆𝑡𝑜𝑟𝑎𝑔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𝑆𝑡𝑜𝑟𝑎𝑔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𝑃𝑟𝑜𝑝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B61EAF-AE43-403D-9500-7C7900D41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232" y="3933056"/>
                <a:ext cx="4343368" cy="575414"/>
              </a:xfrm>
              <a:prstGeom prst="rect">
                <a:avLst/>
              </a:prstGeom>
              <a:blipFill>
                <a:blip r:embed="rId5"/>
                <a:stretch>
                  <a:fillRect r="-1826" b="-147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922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 - Constraints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15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BA0759-3170-4372-8673-57D3CB6A2E0C}"/>
                  </a:ext>
                </a:extLst>
              </p:cNvPr>
              <p:cNvSpPr txBox="1"/>
              <p:nvPr/>
            </p:nvSpPr>
            <p:spPr>
              <a:xfrm>
                <a:off x="-165288" y="1025073"/>
                <a:ext cx="8640960" cy="106368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𝑣𝑖𝑗𝑡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: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𝑣𝑖𝑗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0, …,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BA0759-3170-4372-8673-57D3CB6A2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5288" y="1025073"/>
                <a:ext cx="8640960" cy="10636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EF4883-1B7B-4869-A4CD-6BB71BEB0BF6}"/>
                  </a:ext>
                </a:extLst>
              </p:cNvPr>
              <p:cNvSpPr txBox="1"/>
              <p:nvPr/>
            </p:nvSpPr>
            <p:spPr>
              <a:xfrm>
                <a:off x="174409" y="2039220"/>
                <a:ext cx="8821031" cy="106368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𝑣𝑖𝑗𝑡</m:t>
                              </m:r>
                            </m:sub>
                          </m:sSub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:</m:t>
                          </m:r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𝑣𝑖𝑗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0, …,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EF4883-1B7B-4869-A4CD-6BB71BEB0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09" y="2039220"/>
                <a:ext cx="8821031" cy="10636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EF432A-9B63-46D0-979E-8D727C847919}"/>
                  </a:ext>
                </a:extLst>
              </p:cNvPr>
              <p:cNvSpPr txBox="1"/>
              <p:nvPr/>
            </p:nvSpPr>
            <p:spPr>
              <a:xfrm>
                <a:off x="251520" y="3053367"/>
                <a:ext cx="6579365" cy="9246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𝑣𝑖𝑗𝑡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𝑣𝑖𝑗𝑡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𝑣𝑖𝑗𝑡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0, …,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     ∀(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5EF432A-9B63-46D0-979E-8D727C847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053367"/>
                <a:ext cx="6579365" cy="924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15E385-6170-4E1B-B232-BB016F7C7FD7}"/>
                  </a:ext>
                </a:extLst>
              </p:cNvPr>
              <p:cNvSpPr txBox="1"/>
              <p:nvPr/>
            </p:nvSpPr>
            <p:spPr>
              <a:xfrm>
                <a:off x="251520" y="4080678"/>
                <a:ext cx="6516464" cy="47378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</m:t>
                          </m:r>
                        </m:sub>
                      </m:sSub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𝑣𝑖𝑗𝑡</m:t>
                          </m:r>
                        </m:sub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𝑣𝑖𝑗𝑡</m:t>
                          </m:r>
                        </m:sub>
                      </m:sSub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0, …,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          ∀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15E385-6170-4E1B-B232-BB016F7C7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080678"/>
                <a:ext cx="6516464" cy="4737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58A625-F9D4-4D58-964C-814A2CE64E2E}"/>
                  </a:ext>
                </a:extLst>
              </p:cNvPr>
              <p:cNvSpPr txBox="1"/>
              <p:nvPr/>
            </p:nvSpPr>
            <p:spPr>
              <a:xfrm>
                <a:off x="251520" y="4942584"/>
                <a:ext cx="9649072" cy="30367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𝑠𝑒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</m:t>
                      </m:r>
                      <m:r>
                        <a:rPr lang="en-US" altLang="ko-KR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∀ 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𝑡𝑎𝑢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58A625-F9D4-4D58-964C-814A2CE64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4942584"/>
                <a:ext cx="9649072" cy="303673"/>
              </a:xfrm>
              <a:prstGeom prst="rect">
                <a:avLst/>
              </a:prstGeom>
              <a:blipFill>
                <a:blip r:embed="rId6"/>
                <a:stretch>
                  <a:fillRect b="-2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E2CFD8-088B-4F3D-BA4E-180D8C3B9173}"/>
                  </a:ext>
                </a:extLst>
              </p:cNvPr>
              <p:cNvSpPr txBox="1"/>
              <p:nvPr/>
            </p:nvSpPr>
            <p:spPr>
              <a:xfrm>
                <a:off x="251520" y="5657041"/>
                <a:ext cx="964907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ko-KR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                                     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                      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7E2CFD8-088B-4F3D-BA4E-180D8C3B9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657041"/>
                <a:ext cx="9649072" cy="276999"/>
              </a:xfrm>
              <a:prstGeom prst="rect">
                <a:avLst/>
              </a:prstGeom>
              <a:blipFill>
                <a:blip r:embed="rId7"/>
                <a:stretch>
                  <a:fillRect b="-3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496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 - Constraints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16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1E58628-34B2-457E-8FB6-BD0367A64AD0}"/>
              </a:ext>
            </a:extLst>
          </p:cNvPr>
          <p:cNvGrpSpPr/>
          <p:nvPr/>
        </p:nvGrpSpPr>
        <p:grpSpPr>
          <a:xfrm>
            <a:off x="287472" y="1772816"/>
            <a:ext cx="5086777" cy="1479187"/>
            <a:chOff x="251520" y="1772816"/>
            <a:chExt cx="5086777" cy="1479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1BA0759-3170-4372-8673-57D3CB6A2E0C}"/>
                    </a:ext>
                  </a:extLst>
                </p:cNvPr>
                <p:cNvSpPr txBox="1"/>
                <p:nvPr/>
              </p:nvSpPr>
              <p:spPr>
                <a:xfrm>
                  <a:off x="251520" y="1772816"/>
                  <a:ext cx="5086777" cy="14791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)∈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𝑣𝑖𝑗𝑡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bSup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𝑣𝑖𝑗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bSup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b>
                        </m:sSub>
                      </m:oMath>
                      <m:oMath xmlns:m="http://schemas.openxmlformats.org/officeDocument/2006/math">
                        <m:r>
                          <a:rPr lang="en-US" altLang="ko-KR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0" dirty="0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 …,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  ∀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en-US" altLang="ko-KR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1BA0759-3170-4372-8673-57D3CB6A2E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520" y="1772816"/>
                  <a:ext cx="5086777" cy="147918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E55432-B156-439A-8613-F196B362FE22}"/>
                </a:ext>
              </a:extLst>
            </p:cNvPr>
            <p:cNvSpPr txBox="1"/>
            <p:nvPr/>
          </p:nvSpPr>
          <p:spPr>
            <a:xfrm>
              <a:off x="251520" y="1860076"/>
              <a:ext cx="1508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Mass balance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F6094E0-2559-4FD2-8963-5011DDFF708C}"/>
              </a:ext>
            </a:extLst>
          </p:cNvPr>
          <p:cNvGrpSpPr/>
          <p:nvPr/>
        </p:nvGrpSpPr>
        <p:grpSpPr>
          <a:xfrm>
            <a:off x="287472" y="3617572"/>
            <a:ext cx="5057345" cy="1479187"/>
            <a:chOff x="251520" y="3372187"/>
            <a:chExt cx="5057345" cy="1479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CEF4883-1B7B-4869-A4CD-6BB71BEB0BF6}"/>
                    </a:ext>
                  </a:extLst>
                </p:cNvPr>
                <p:cNvSpPr txBox="1"/>
                <p:nvPr/>
              </p:nvSpPr>
              <p:spPr>
                <a:xfrm>
                  <a:off x="251520" y="3372187"/>
                  <a:ext cx="5057345" cy="14791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)∈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𝑣𝑖𝑗𝑡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𝑣𝑖𝑗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</m:e>
                        </m:nary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  <m:oMath xmlns:m="http://schemas.openxmlformats.org/officeDocument/2006/math"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 ∀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 …,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  ∀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  ∀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altLang="ko-KR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DCEF4883-1B7B-4869-A4CD-6BB71BEB0B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520" y="3372187"/>
                  <a:ext cx="5057345" cy="14791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7541CF-21BE-4395-9F0B-13BE3E0F1BC9}"/>
                </a:ext>
              </a:extLst>
            </p:cNvPr>
            <p:cNvSpPr txBox="1"/>
            <p:nvPr/>
          </p:nvSpPr>
          <p:spPr>
            <a:xfrm>
              <a:off x="251520" y="3426581"/>
              <a:ext cx="16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Vehicle balance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698D29-4905-4F50-A5B4-197A81123045}"/>
                  </a:ext>
                </a:extLst>
              </p:cNvPr>
              <p:cNvSpPr txBox="1"/>
              <p:nvPr/>
            </p:nvSpPr>
            <p:spPr>
              <a:xfrm>
                <a:off x="4765117" y="2702838"/>
                <a:ext cx="4572000" cy="1117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𝑃𝑎𝑦𝑙𝑜𝑎𝑑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𝑑𝑒𝑚𝑎𝑛𝑑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𝑠𝑢𝑝𝑝𝑙𝑦</m:t>
                              </m:r>
                            </m:e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sSub>
                                <m:sSubPr>
                                  <m:ctrlP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𝑓𝑖𝑟𝑠𝑡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        (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=0)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𝐼𝑆𝑅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𝑟𝑎𝑡𝑒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7698D29-4905-4F50-A5B4-197A81123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117" y="2702838"/>
                <a:ext cx="4572000" cy="1117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7102F87-359F-4C70-A236-BFD75E62C632}"/>
                  </a:ext>
                </a:extLst>
              </p:cNvPr>
              <p:cNvSpPr txBox="1"/>
              <p:nvPr/>
            </p:nvSpPr>
            <p:spPr>
              <a:xfrm>
                <a:off x="4644008" y="5134474"/>
                <a:ext cx="4572000" cy="369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𝐿𝐸𝑂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𝑀𝑜𝑜𝑛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7102F87-359F-4C70-A236-BFD75E62C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5134474"/>
                <a:ext cx="4572000" cy="369588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660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 - Constraints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17</a:t>
            </a:fld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237B13A-1255-47C0-9E9A-FAC5F3AD00F2}"/>
              </a:ext>
            </a:extLst>
          </p:cNvPr>
          <p:cNvGrpSpPr/>
          <p:nvPr/>
        </p:nvGrpSpPr>
        <p:grpSpPr>
          <a:xfrm>
            <a:off x="293936" y="1844824"/>
            <a:ext cx="6160205" cy="1109278"/>
            <a:chOff x="251520" y="1860076"/>
            <a:chExt cx="6160205" cy="11092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1122808-D58B-40BD-944E-9B58C5E6EBAD}"/>
                    </a:ext>
                  </a:extLst>
                </p:cNvPr>
                <p:cNvSpPr txBox="1"/>
                <p:nvPr/>
              </p:nvSpPr>
              <p:spPr>
                <a:xfrm>
                  <a:off x="324738" y="2044742"/>
                  <a:ext cx="6086987" cy="9246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𝑣𝑖𝑗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Sup>
                                  <m:sSub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𝑣𝑖𝑗𝑡</m:t>
                                    </m:r>
                                  </m:sub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𝑣𝑖𝑗𝑡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𝑣𝑖𝑗𝑡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 …,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  ∀(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)∈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ko-KR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1122808-D58B-40BD-944E-9B58C5E6E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738" y="2044742"/>
                  <a:ext cx="6086987" cy="92461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33D641-7967-4B91-B8CB-BDE39A31ABCF}"/>
                </a:ext>
              </a:extLst>
            </p:cNvPr>
            <p:cNvSpPr txBox="1"/>
            <p:nvPr/>
          </p:nvSpPr>
          <p:spPr>
            <a:xfrm>
              <a:off x="251520" y="1860076"/>
              <a:ext cx="3772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Transformation of commodities vector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8BE7E82-4E3F-444A-B4C6-617CD2A0C195}"/>
              </a:ext>
            </a:extLst>
          </p:cNvPr>
          <p:cNvSpPr txBox="1"/>
          <p:nvPr/>
        </p:nvSpPr>
        <p:spPr>
          <a:xfrm>
            <a:off x="293936" y="3420794"/>
            <a:ext cx="2549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Propellant consumption :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1477EB-32C7-4015-A462-315642284572}"/>
                  </a:ext>
                </a:extLst>
              </p:cNvPr>
              <p:cNvSpPr txBox="1"/>
              <p:nvPr/>
            </p:nvSpPr>
            <p:spPr>
              <a:xfrm>
                <a:off x="5868144" y="2815602"/>
                <a:ext cx="29275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𝑑𝑟𝑦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𝑚𝑎𝑠𝑠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𝑣𝑒h𝑖𝑐𝑙𝑒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1477EB-32C7-4015-A462-315642284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2815602"/>
                <a:ext cx="2927596" cy="276999"/>
              </a:xfrm>
              <a:prstGeom prst="rect">
                <a:avLst/>
              </a:prstGeom>
              <a:blipFill>
                <a:blip r:embed="rId4"/>
                <a:stretch>
                  <a:fillRect l="-1875" r="-2083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8851A2-F82E-4443-B66F-8F8DD275C845}"/>
                  </a:ext>
                </a:extLst>
              </p:cNvPr>
              <p:cNvSpPr txBox="1"/>
              <p:nvPr/>
            </p:nvSpPr>
            <p:spPr>
              <a:xfrm>
                <a:off x="1017475" y="4396916"/>
                <a:ext cx="7080785" cy="8733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</m:t>
                          </m:r>
                        </m:sub>
                      </m:sSub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𝑎𝑦𝑙𝑜𝑎𝑑</m:t>
                                    </m:r>
                                  </m:e>
                                </m:m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𝑃𝑟𝑜𝑝𝑒𝑙𝑙𝑎𝑛𝑡</m:t>
                                        </m:r>
                                      </m:e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𝑆𝑡𝑟𝑢𝑐𝑡𝑢𝑟𝑒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𝑚𝑎𝑠𝑠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eqAr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𝑣𝑖𝑗𝑡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  </m:t>
                      </m:r>
                      <m:sSubSup>
                        <m:sSub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𝑎𝑦𝑙𝑜𝑎𝑑</m:t>
                                    </m:r>
                                  </m:e>
                                </m:m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𝑃𝑟𝑜𝑝𝑒𝑙𝑙𝑎𝑛𝑡</m:t>
                                        </m:r>
                                      </m:e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𝑆𝑡𝑟𝑢𝑐𝑡𝑢𝑟𝑒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𝑚𝑎𝑠𝑠</m:t>
                                        </m:r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</m:eqAr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𝑣𝑖𝑗𝑡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B8851A2-F82E-4443-B66F-8F8DD275C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475" y="4396916"/>
                <a:ext cx="7080785" cy="8733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74163-CA6F-40A2-AFFA-953D3FD64DAA}"/>
                  </a:ext>
                </a:extLst>
              </p:cNvPr>
              <p:cNvSpPr txBox="1"/>
              <p:nvPr/>
            </p:nvSpPr>
            <p:spPr>
              <a:xfrm>
                <a:off x="1195319" y="3790126"/>
                <a:ext cx="1629099" cy="472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74163-CA6F-40A2-AFFA-953D3FD64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319" y="3790126"/>
                <a:ext cx="1629099" cy="4725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5561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 - Constraints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18</a:t>
            </a:fld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237B13A-1255-47C0-9E9A-FAC5F3AD00F2}"/>
              </a:ext>
            </a:extLst>
          </p:cNvPr>
          <p:cNvGrpSpPr/>
          <p:nvPr/>
        </p:nvGrpSpPr>
        <p:grpSpPr>
          <a:xfrm>
            <a:off x="293936" y="1844824"/>
            <a:ext cx="5768944" cy="929336"/>
            <a:chOff x="251520" y="1860076"/>
            <a:chExt cx="5768944" cy="9293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1122808-D58B-40BD-944E-9B58C5E6EBAD}"/>
                    </a:ext>
                  </a:extLst>
                </p:cNvPr>
                <p:cNvSpPr txBox="1"/>
                <p:nvPr/>
              </p:nvSpPr>
              <p:spPr>
                <a:xfrm>
                  <a:off x="324738" y="2315628"/>
                  <a:ext cx="5695726" cy="4737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𝑣𝑖𝑗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𝑣𝑖𝑗𝑡</m:t>
                            </m:r>
                          </m:sub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𝑣𝑖𝑗𝑡</m:t>
                            </m:r>
                          </m:sub>
                        </m:s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 …,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  ∀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altLang="ko-KR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1122808-D58B-40BD-944E-9B58C5E6E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738" y="2315628"/>
                  <a:ext cx="5695726" cy="47378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33D641-7967-4B91-B8CB-BDE39A31ABCF}"/>
                </a:ext>
              </a:extLst>
            </p:cNvPr>
            <p:cNvSpPr txBox="1"/>
            <p:nvPr/>
          </p:nvSpPr>
          <p:spPr>
            <a:xfrm>
              <a:off x="251520" y="1860076"/>
              <a:ext cx="13678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Concurrency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ED5D21-94E2-4C51-8927-6ED8DE0ACAE3}"/>
                  </a:ext>
                </a:extLst>
              </p:cNvPr>
              <p:cNvSpPr txBox="1"/>
              <p:nvPr/>
            </p:nvSpPr>
            <p:spPr>
              <a:xfrm>
                <a:off x="5868144" y="2815602"/>
                <a:ext cx="28832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𝑐𝑎𝑝𝑎𝑐𝑖𝑡𝑦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𝑣𝑒h𝑖𝑐𝑙𝑒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AED5D21-94E2-4C51-8927-6ED8DE0AC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2815602"/>
                <a:ext cx="2883290" cy="276999"/>
              </a:xfrm>
              <a:prstGeom prst="rect">
                <a:avLst/>
              </a:prstGeom>
              <a:blipFill>
                <a:blip r:embed="rId4"/>
                <a:stretch>
                  <a:fillRect l="-1903" r="-1903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4B1CF8-7660-47D6-9159-941E2890DFC5}"/>
                  </a:ext>
                </a:extLst>
              </p:cNvPr>
              <p:cNvSpPr txBox="1"/>
              <p:nvPr/>
            </p:nvSpPr>
            <p:spPr>
              <a:xfrm>
                <a:off x="2195736" y="4396916"/>
                <a:ext cx="5367495" cy="9135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f>
                                      <m:f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𝑝𝑟𝑜𝑝</m:t>
                                        </m:r>
                                      </m:num>
                                      <m:den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𝑡𝑎𝑛𝑘</m:t>
                                        </m:r>
                                      </m:den>
                                    </m:f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𝑎𝑦𝑙𝑜𝑎𝑑</m:t>
                                    </m:r>
                                  </m:e>
                                </m:m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𝑃𝑟𝑜𝑝𝑒𝑙𝑙𝑎𝑛𝑡</m:t>
                                        </m:r>
                                      </m:e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𝑇𝑎𝑛𝑘</m:t>
                                        </m:r>
                                      </m:e>
                                    </m:eqArr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𝑣𝑖𝑗𝑡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𝑣𝑖𝑗𝑡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34B1CF8-7660-47D6-9159-941E2890D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4396916"/>
                <a:ext cx="5367495" cy="9135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10C9E6-F8D4-4C3B-A1AF-59A458A2EC56}"/>
                  </a:ext>
                </a:extLst>
              </p:cNvPr>
              <p:cNvSpPr txBox="1"/>
              <p:nvPr/>
            </p:nvSpPr>
            <p:spPr>
              <a:xfrm>
                <a:off x="2373580" y="3980798"/>
                <a:ext cx="50887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𝑝𝑎𝑦𝑙𝑜𝑎𝑑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𝑝𝑟𝑜𝑝𝑒𝑙𝑙𝑎𝑛𝑡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𝑐𝑎𝑝𝑎𝑐𝑖𝑡𝑦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𝑣𝑒h𝑖𝑐𝑙𝑒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10C9E6-F8D4-4C3B-A1AF-59A458A2E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580" y="3980798"/>
                <a:ext cx="5088764" cy="276999"/>
              </a:xfrm>
              <a:prstGeom prst="rect">
                <a:avLst/>
              </a:prstGeom>
              <a:blipFill>
                <a:blip r:embed="rId6"/>
                <a:stretch>
                  <a:fillRect l="-240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F9A8872-5645-4FAF-8C48-B12A4E5B3DFF}"/>
              </a:ext>
            </a:extLst>
          </p:cNvPr>
          <p:cNvSpPr txBox="1"/>
          <p:nvPr/>
        </p:nvSpPr>
        <p:spPr>
          <a:xfrm>
            <a:off x="293936" y="3420794"/>
            <a:ext cx="2378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RT Propellant capacity :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446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A8E36-B72D-474E-9E5F-113704B7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Implementation - Constraints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F14291-54FE-4CE5-A274-4D0C6F42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A23CAC-0910-4BB3-A222-825F06F5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19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55432-B156-439A-8613-F196B362FE22}"/>
              </a:ext>
            </a:extLst>
          </p:cNvPr>
          <p:cNvSpPr txBox="1"/>
          <p:nvPr/>
        </p:nvSpPr>
        <p:spPr>
          <a:xfrm>
            <a:off x="287472" y="1464542"/>
            <a:ext cx="2513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Horizon cycle constraints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8C01CB-6D86-4922-BBC5-29F88F9A72B1}"/>
                  </a:ext>
                </a:extLst>
              </p:cNvPr>
              <p:cNvSpPr txBox="1"/>
              <p:nvPr/>
            </p:nvSpPr>
            <p:spPr>
              <a:xfrm>
                <a:off x="515739" y="1882110"/>
                <a:ext cx="3601335" cy="580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𝑠𝑒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𝑣𝑖𝑗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𝑠𝑠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∀ 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∀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𝑡𝑎𝑢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F8C01CB-6D86-4922-BBC5-29F88F9A7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739" y="1882110"/>
                <a:ext cx="3601335" cy="580672"/>
              </a:xfrm>
              <a:prstGeom prst="rect">
                <a:avLst/>
              </a:prstGeom>
              <a:blipFill>
                <a:blip r:embed="rId2"/>
                <a:stretch>
                  <a:fillRect l="-4746" r="-3051" b="-1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60AA64E-3F37-44B7-B0F1-8E58E87AF644}"/>
              </a:ext>
            </a:extLst>
          </p:cNvPr>
          <p:cNvSpPr txBox="1"/>
          <p:nvPr/>
        </p:nvSpPr>
        <p:spPr>
          <a:xfrm>
            <a:off x="4800962" y="5786453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 end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4C666F7-CA9F-44AF-AB5E-D4C7B2F2351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7" t="9409" r="3983" b="-1363"/>
          <a:stretch/>
        </p:blipFill>
        <p:spPr>
          <a:xfrm>
            <a:off x="5200735" y="3099075"/>
            <a:ext cx="1872208" cy="284905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57358C03-A8AB-4B87-95F2-C7B63CC7D101}"/>
              </a:ext>
            </a:extLst>
          </p:cNvPr>
          <p:cNvGrpSpPr/>
          <p:nvPr/>
        </p:nvGrpSpPr>
        <p:grpSpPr>
          <a:xfrm>
            <a:off x="-80073" y="2729743"/>
            <a:ext cx="5508104" cy="3426042"/>
            <a:chOff x="-80073" y="2729743"/>
            <a:chExt cx="5508104" cy="342604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7FB4F84-93DA-4BB3-ABC2-1A1E40C8CD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72" t="9409" r="372" b="-1363"/>
            <a:stretch/>
          </p:blipFill>
          <p:spPr>
            <a:xfrm>
              <a:off x="-80073" y="3099075"/>
              <a:ext cx="5508104" cy="2849057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9DD212D-7BC2-405A-9B1B-C77A383A7AA2}"/>
                </a:ext>
              </a:extLst>
            </p:cNvPr>
            <p:cNvSpPr/>
            <p:nvPr/>
          </p:nvSpPr>
          <p:spPr>
            <a:xfrm>
              <a:off x="249584" y="3099075"/>
              <a:ext cx="1260440" cy="2592288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69084AA-2147-46FC-AD18-64E25F22DF54}"/>
                </a:ext>
              </a:extLst>
            </p:cNvPr>
            <p:cNvSpPr/>
            <p:nvPr/>
          </p:nvSpPr>
          <p:spPr>
            <a:xfrm>
              <a:off x="1510023" y="3099075"/>
              <a:ext cx="1850407" cy="2592288"/>
            </a:xfrm>
            <a:prstGeom prst="rect">
              <a:avLst/>
            </a:prstGeom>
            <a:solidFill>
              <a:schemeClr val="accent3">
                <a:lumMod val="7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651BBF6-9EBE-4678-96FD-ED7275482035}"/>
                </a:ext>
              </a:extLst>
            </p:cNvPr>
            <p:cNvSpPr/>
            <p:nvPr/>
          </p:nvSpPr>
          <p:spPr>
            <a:xfrm>
              <a:off x="3360430" y="3099075"/>
              <a:ext cx="2016225" cy="259228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88EBC8-C9ED-463F-9089-328A77C82772}"/>
                </a:ext>
              </a:extLst>
            </p:cNvPr>
            <p:cNvSpPr txBox="1"/>
            <p:nvPr/>
          </p:nvSpPr>
          <p:spPr>
            <a:xfrm>
              <a:off x="490723" y="2729743"/>
              <a:ext cx="778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Set up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EEAB72-9B77-46A0-8F32-6D891158910F}"/>
                </a:ext>
              </a:extLst>
            </p:cNvPr>
            <p:cNvSpPr txBox="1"/>
            <p:nvPr/>
          </p:nvSpPr>
          <p:spPr>
            <a:xfrm>
              <a:off x="2071985" y="2729743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Ramp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76E92CD-9816-4231-9DE8-68FFBF5CEE21}"/>
                </a:ext>
              </a:extLst>
            </p:cNvPr>
            <p:cNvSpPr txBox="1"/>
            <p:nvPr/>
          </p:nvSpPr>
          <p:spPr>
            <a:xfrm>
              <a:off x="3694479" y="2729743"/>
              <a:ext cx="1348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Steady State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83AE856-5E4B-41C4-83CE-EA0698689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8534" y="3052467"/>
              <a:ext cx="1" cy="2733986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E749E7-34D8-4156-9FF4-1A96CAE02A05}"/>
                </a:ext>
              </a:extLst>
            </p:cNvPr>
            <p:cNvSpPr txBox="1"/>
            <p:nvPr/>
          </p:nvSpPr>
          <p:spPr>
            <a:xfrm>
              <a:off x="2917541" y="5786453"/>
              <a:ext cx="8781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SS start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7650313E-893E-4571-B5B1-B55F924F0B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344" y="3052467"/>
              <a:ext cx="1" cy="2733986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1CBC33-804A-496B-BDEF-4DA49362BC34}"/>
                </a:ext>
              </a:extLst>
            </p:cNvPr>
            <p:cNvSpPr txBox="1"/>
            <p:nvPr/>
          </p:nvSpPr>
          <p:spPr>
            <a:xfrm>
              <a:off x="30024" y="5786453"/>
              <a:ext cx="1409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Facility setup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C10FD7C-13CC-4DE7-8628-8EB85B07BC59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flipH="1">
              <a:off x="5205080" y="3052467"/>
              <a:ext cx="1898" cy="2733986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F4B6BBD9-07FC-411B-B239-317863CCFE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7" t="9409" r="1437" b="-1363"/>
          <a:stretch/>
        </p:blipFill>
        <p:spPr>
          <a:xfrm>
            <a:off x="7049680" y="3097167"/>
            <a:ext cx="2012428" cy="284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78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FFCBD-6A73-4BF5-B11B-7C2DC317B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Studies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4E78CC-507C-427C-8F8B-C67DE4E8A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 sweep</a:t>
            </a:r>
          </a:p>
          <a:p>
            <a:pPr lvl="1"/>
            <a:r>
              <a:rPr lang="en-US" altLang="ko-KR" sz="1800" dirty="0">
                <a:ea typeface="Calibri" panose="020F0502020204030204" pitchFamily="34" charset="0"/>
              </a:rPr>
              <a:t>Mission length: 4, 6, 8, 10 years</a:t>
            </a:r>
          </a:p>
          <a:p>
            <a:pPr lvl="1"/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Payload demand: 50, 75, 100, 125, 150 t/year</a:t>
            </a:r>
            <a:endParaRPr lang="en-US" altLang="ko-KR" sz="1800" dirty="0">
              <a:ea typeface="Calibri" panose="020F0502020204030204" pitchFamily="34" charset="0"/>
            </a:endParaRPr>
          </a:p>
          <a:p>
            <a:pPr lvl="1"/>
            <a:r>
              <a:rPr lang="en-US" altLang="ko-K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Demand interval</a:t>
            </a:r>
            <a:r>
              <a:rPr lang="en-US" altLang="ko-KR" sz="1800" dirty="0">
                <a:ea typeface="Calibri" panose="020F0502020204030204" pitchFamily="34" charset="0"/>
              </a:rPr>
              <a:t>: 60, 90 days</a:t>
            </a:r>
          </a:p>
          <a:p>
            <a:endParaRPr lang="en-US" altLang="ko-KR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LEO →GEO vs. GTO →GEO</a:t>
            </a:r>
          </a:p>
          <a:p>
            <a:pPr lvl="1"/>
            <a:endParaRPr lang="en-US" altLang="ko-K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AE0EE1-4053-4984-B4F3-E83DD04E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E6B019-BE54-4112-B2CD-2EA8C678A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20</a:t>
            </a:fld>
            <a:endParaRPr lang="ko-KR" altLang="en-US" dirty="0"/>
          </a:p>
        </p:txBody>
      </p:sp>
      <p:graphicFrame>
        <p:nvGraphicFramePr>
          <p:cNvPr id="6" name="표 8">
            <a:extLst>
              <a:ext uri="{FF2B5EF4-FFF2-40B4-BE49-F238E27FC236}">
                <a16:creationId xmlns:a16="http://schemas.microsoft.com/office/drawing/2014/main" id="{41BC9A11-D8F2-46E0-A1AD-D00E5A6093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310905"/>
              </p:ext>
            </p:extLst>
          </p:nvPr>
        </p:nvGraphicFramePr>
        <p:xfrm>
          <a:off x="492200" y="3573016"/>
          <a:ext cx="4079800" cy="259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7263">
                  <a:extLst>
                    <a:ext uri="{9D8B030D-6E8A-4147-A177-3AD203B41FA5}">
                      <a16:colId xmlns:a16="http://schemas.microsoft.com/office/drawing/2014/main" val="3156406247"/>
                    </a:ext>
                  </a:extLst>
                </a:gridCol>
                <a:gridCol w="1932537">
                  <a:extLst>
                    <a:ext uri="{9D8B030D-6E8A-4147-A177-3AD203B41FA5}">
                      <a16:colId xmlns:a16="http://schemas.microsoft.com/office/drawing/2014/main" val="6652795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Parameter</a:t>
                      </a:r>
                      <a:endParaRPr lang="ko-KR" altLang="en-US" sz="1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Assumed Value</a:t>
                      </a:r>
                      <a:endParaRPr lang="ko-KR" altLang="en-US" sz="1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717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Time step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days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25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ISRU manufacture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$10,000/kg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88684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ISRU maintain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5% of dry mass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0396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H2O tank / propellant tank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$800/kg, $1,896/kg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404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OTV/RT manufacture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$110M/$150M per unit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2192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Earth propellant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$1.045/kg</a:t>
                      </a:r>
                      <a:endParaRPr lang="ko-KR" alt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622388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9">
                <a:extLst>
                  <a:ext uri="{FF2B5EF4-FFF2-40B4-BE49-F238E27FC236}">
                    <a16:creationId xmlns:a16="http://schemas.microsoft.com/office/drawing/2014/main" id="{39189C01-9C97-42A0-BD17-3F88868106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8860374"/>
                  </p:ext>
                </p:extLst>
              </p:nvPr>
            </p:nvGraphicFramePr>
            <p:xfrm>
              <a:off x="4932040" y="2708920"/>
              <a:ext cx="4032448" cy="33843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6064">
                      <a:extLst>
                        <a:ext uri="{9D8B030D-6E8A-4147-A177-3AD203B41FA5}">
                          <a16:colId xmlns:a16="http://schemas.microsoft.com/office/drawing/2014/main" val="938758486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787480933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2078009541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1995027812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2478860964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462384324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1785273867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800" b="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altLang="ko-KR" sz="8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altLang="ko-KR" sz="800" b="0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en-US" altLang="ko-KR" sz="800" b="0" i="1" smtClean="0">
                                    <a:latin typeface="Cambria Math" panose="02040503050406030204" pitchFamily="18" charset="0"/>
                                  </a:rPr>
                                  <m:t>𝑘𝑚</m:t>
                                </m:r>
                                <m:r>
                                  <a:rPr lang="en-US" altLang="ko-KR" sz="8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ko-KR" sz="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800" b="0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800" dirty="0"/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GTO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GEO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EML1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NRHO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LLO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Moon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42191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LEO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2.86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4.33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3.77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3.60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4.04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5.93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6438023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GTO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1.47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1.31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1.10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1.58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3.47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2385466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GEO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1.38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1.47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2.05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3.92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86647340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EML1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0.20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0.64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2.51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538475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NRHO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0.73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2.60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4008118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LLO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1.87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111898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9">
                <a:extLst>
                  <a:ext uri="{FF2B5EF4-FFF2-40B4-BE49-F238E27FC236}">
                    <a16:creationId xmlns:a16="http://schemas.microsoft.com/office/drawing/2014/main" id="{39189C01-9C97-42A0-BD17-3F88868106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8860374"/>
                  </p:ext>
                </p:extLst>
              </p:nvPr>
            </p:nvGraphicFramePr>
            <p:xfrm>
              <a:off x="4932040" y="2708920"/>
              <a:ext cx="4032448" cy="33843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76064">
                      <a:extLst>
                        <a:ext uri="{9D8B030D-6E8A-4147-A177-3AD203B41FA5}">
                          <a16:colId xmlns:a16="http://schemas.microsoft.com/office/drawing/2014/main" val="938758486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787480933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2078009541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1995027812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2478860964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462384324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1785273867"/>
                        </a:ext>
                      </a:extLst>
                    </a:gridCol>
                  </a:tblGrid>
                  <a:tr h="48348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53" t="-1266" r="-598947" b="-6063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GTO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GEO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EML1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NRHO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LLO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Moon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42191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LEO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2.86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4.33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3.77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3.60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4.04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5.93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64380234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GTO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1.47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1.31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1.10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1.58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3.47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23854669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GEO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1.38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1.47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2.05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3.92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86647340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EML1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0.20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0.64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2.51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5384751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NRHO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0.73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2.60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34008118"/>
                      </a:ext>
                    </a:extLst>
                  </a:tr>
                  <a:tr h="48348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LLO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1.87</a:t>
                          </a:r>
                          <a:endParaRPr lang="ko-KR" altLang="en-US" sz="1200" dirty="0"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111898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0586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C5FD516F-7D40-4A5A-BDB9-316C56514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56" y="4312968"/>
            <a:ext cx="7225416" cy="199028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D937911-09A6-40B4-9E93-BF255D79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Studies - Sweep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F19A9-8FE1-4198-B4EA-77AACDCB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9288D-2E4C-468E-99DB-3706AC32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21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5F05D6-4D67-4F0A-B64C-4F8DDDA97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517" y="1444558"/>
            <a:ext cx="4320479" cy="28803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7B7300D-165A-4935-BD73-F8863A9C24B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134" r="50787" b="3025"/>
          <a:stretch/>
        </p:blipFill>
        <p:spPr>
          <a:xfrm>
            <a:off x="428329" y="1444558"/>
            <a:ext cx="3816424" cy="282878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1E21939-C676-40A2-A869-C4D0BF954890}"/>
              </a:ext>
            </a:extLst>
          </p:cNvPr>
          <p:cNvSpPr/>
          <p:nvPr/>
        </p:nvSpPr>
        <p:spPr>
          <a:xfrm rot="21410299">
            <a:off x="909142" y="3293743"/>
            <a:ext cx="3240360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0EEBB-4D9D-49E3-9839-A5E44D11EA4E}"/>
              </a:ext>
            </a:extLst>
          </p:cNvPr>
          <p:cNvSpPr/>
          <p:nvPr/>
        </p:nvSpPr>
        <p:spPr>
          <a:xfrm rot="20385353">
            <a:off x="1152351" y="5003414"/>
            <a:ext cx="1564100" cy="4915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0E816B3-2B33-49AD-BF4F-84AE0D183D6F}"/>
              </a:ext>
            </a:extLst>
          </p:cNvPr>
          <p:cNvGrpSpPr/>
          <p:nvPr/>
        </p:nvGrpSpPr>
        <p:grpSpPr>
          <a:xfrm>
            <a:off x="4179167" y="3789040"/>
            <a:ext cx="4536504" cy="1571679"/>
            <a:chOff x="4351820" y="2701666"/>
            <a:chExt cx="4536504" cy="1571679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0CDED9C-E836-4C2D-BDD1-DB0E4329D05C}"/>
                </a:ext>
              </a:extLst>
            </p:cNvPr>
            <p:cNvSpPr/>
            <p:nvPr/>
          </p:nvSpPr>
          <p:spPr>
            <a:xfrm>
              <a:off x="4351820" y="2701666"/>
              <a:ext cx="4536504" cy="15716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2E3A9C5-31A2-4279-A479-F1A4EF994CDE}"/>
                </a:ext>
              </a:extLst>
            </p:cNvPr>
            <p:cNvSpPr txBox="1"/>
            <p:nvPr/>
          </p:nvSpPr>
          <p:spPr>
            <a:xfrm>
              <a:off x="4395679" y="2816094"/>
              <a:ext cx="4448786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Tx/>
                <a:buChar char="-"/>
              </a:pPr>
              <a:r>
                <a:rPr lang="en-US" altLang="ko-K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Earth propellant fraction &amp; SWE mass only depend on payload demand and demand period</a:t>
              </a:r>
            </a:p>
            <a:p>
              <a:pPr marL="285750" indent="-285750" algn="just">
                <a:buFontTx/>
                <a:buChar char="-"/>
              </a:pPr>
              <a:endParaRPr lang="en-US" altLang="ko-KR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 algn="just">
                <a:buFontTx/>
                <a:buChar char="-"/>
              </a:pPr>
              <a:r>
                <a:rPr lang="en-US" altLang="ko-KR" dirty="0">
                  <a:latin typeface="Calibri" panose="020F0502020204030204" pitchFamily="34" charset="0"/>
                  <a:cs typeface="Calibri" panose="020F0502020204030204" pitchFamily="34" charset="0"/>
                </a:rPr>
                <a:t>All earth prop used in LEO-&gt;GTO arc</a:t>
              </a:r>
              <a:endParaRPr lang="ko-KR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7A59049-960E-48A5-84FC-05C5C7D426F9}"/>
              </a:ext>
            </a:extLst>
          </p:cNvPr>
          <p:cNvCxnSpPr/>
          <p:nvPr/>
        </p:nvCxnSpPr>
        <p:spPr>
          <a:xfrm flipH="1">
            <a:off x="4499992" y="3501008"/>
            <a:ext cx="421567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47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37911-09A6-40B4-9E93-BF255D79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Studies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F19A9-8FE1-4198-B4EA-77AACDCB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9288D-2E4C-468E-99DB-3706AC32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22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A5EDE3E-420F-46BC-8D32-13F7457C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Mission length : 6 years</a:t>
            </a:r>
          </a:p>
          <a:p>
            <a:r>
              <a:rPr lang="en-US" altLang="ko-KR" sz="2000" dirty="0"/>
              <a:t>Payload demand : 100t/year</a:t>
            </a:r>
          </a:p>
          <a:p>
            <a:r>
              <a:rPr lang="en-US" altLang="ko-KR" sz="2000" dirty="0"/>
              <a:t>Demand interval : 90 days</a:t>
            </a:r>
          </a:p>
          <a:p>
            <a:r>
              <a:rPr lang="en-US" altLang="ko-KR" sz="2000" dirty="0"/>
              <a:t>Cost per kg : 16,970 $</a:t>
            </a:r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8291FA-208E-48BB-8F86-1E4A5156FD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5536" y="2945482"/>
            <a:ext cx="4956042" cy="27877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98706F-3441-4501-B133-CD7EE264A1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36096" y="1484784"/>
            <a:ext cx="3612909" cy="241982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41C222-1139-4870-889E-14908DE3CE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65546" y="4070598"/>
            <a:ext cx="3478856" cy="193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32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37911-09A6-40B4-9E93-BF255D79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Studies – LEO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GEO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F19A9-8FE1-4198-B4EA-77AACDCB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9288D-2E4C-468E-99DB-3706AC32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23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A5EDE3E-420F-46BC-8D32-13F7457C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Mission length : 6 years</a:t>
            </a:r>
          </a:p>
          <a:p>
            <a:r>
              <a:rPr lang="en-US" altLang="ko-KR" sz="2000" dirty="0"/>
              <a:t>Payload demand : 75t/year</a:t>
            </a:r>
          </a:p>
          <a:p>
            <a:r>
              <a:rPr lang="en-US" altLang="ko-KR" sz="2000" dirty="0"/>
              <a:t>Demand interval : 60 days</a:t>
            </a:r>
          </a:p>
          <a:p>
            <a:r>
              <a:rPr lang="en-US" altLang="ko-KR" sz="2000" dirty="0"/>
              <a:t>Cost per kg : 21,449 $</a:t>
            </a:r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8291FA-208E-48BB-8F86-1E4A5156FD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5536" y="2945482"/>
            <a:ext cx="4956042" cy="27877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98706F-3441-4501-B133-CD7EE264A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95595" y="1484784"/>
            <a:ext cx="3612909" cy="245848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41C222-1139-4870-889E-14908DE3CE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65545" y="4070598"/>
            <a:ext cx="3478858" cy="193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63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37911-09A6-40B4-9E93-BF255D79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Studies – LEO to GEO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F19A9-8FE1-4198-B4EA-77AACDCB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9288D-2E4C-468E-99DB-3706AC32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24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A5EDE3E-420F-46BC-8D32-13F7457C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Mission length : 10 years</a:t>
            </a:r>
          </a:p>
          <a:p>
            <a:r>
              <a:rPr lang="en-US" altLang="ko-KR" sz="2000" dirty="0"/>
              <a:t>Payload demand : 100t/year</a:t>
            </a:r>
          </a:p>
          <a:p>
            <a:r>
              <a:rPr lang="en-US" altLang="ko-KR" sz="2000" dirty="0"/>
              <a:t>Demand interval : 60 days</a:t>
            </a:r>
          </a:p>
          <a:p>
            <a:r>
              <a:rPr lang="en-US" altLang="ko-KR" sz="2000" dirty="0"/>
              <a:t>Cost per kg : 15,669 $</a:t>
            </a:r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8291FA-208E-48BB-8F86-1E4A5156FD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5536" y="2945482"/>
            <a:ext cx="4956042" cy="27877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98706F-3441-4501-B133-CD7EE264A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36096" y="1492015"/>
            <a:ext cx="3612908" cy="244402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41C222-1139-4870-889E-14908DE3CE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65546" y="4070598"/>
            <a:ext cx="3478856" cy="193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52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37911-09A6-40B4-9E93-BF255D79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Studies – GTO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GEO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F19A9-8FE1-4198-B4EA-77AACDCB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9288D-2E4C-468E-99DB-3706AC32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25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A5EDE3E-420F-46BC-8D32-13F7457C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Mission length : 6 years</a:t>
            </a:r>
          </a:p>
          <a:p>
            <a:r>
              <a:rPr lang="en-US" altLang="ko-KR" sz="2000" dirty="0"/>
              <a:t>Payload demand : 75t/year</a:t>
            </a:r>
          </a:p>
          <a:p>
            <a:r>
              <a:rPr lang="en-US" altLang="ko-KR" sz="2000" dirty="0"/>
              <a:t>Demand interval : 60 days</a:t>
            </a:r>
          </a:p>
          <a:p>
            <a:r>
              <a:rPr lang="en-US" altLang="ko-KR" sz="2000" dirty="0"/>
              <a:t>Cost per kg : 15,935 $</a:t>
            </a:r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8291FA-208E-48BB-8F86-1E4A5156FD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5536" y="2945482"/>
            <a:ext cx="4956042" cy="27877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98706F-3441-4501-B133-CD7EE264A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65545" y="1493451"/>
            <a:ext cx="3612909" cy="24411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41C222-1139-4870-889E-14908DE3CE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65545" y="4070598"/>
            <a:ext cx="3478858" cy="193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28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37911-09A6-40B4-9E93-BF255D79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Studies – GTO to GEO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F19A9-8FE1-4198-B4EA-77AACDCB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9288D-2E4C-468E-99DB-3706AC32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26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0A5EDE3E-420F-46BC-8D32-13F7457C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Mission length : 10 years</a:t>
            </a:r>
          </a:p>
          <a:p>
            <a:r>
              <a:rPr lang="en-US" altLang="ko-KR" sz="2000" dirty="0"/>
              <a:t>Payload demand : 100t/year</a:t>
            </a:r>
          </a:p>
          <a:p>
            <a:r>
              <a:rPr lang="en-US" altLang="ko-KR" sz="2000" dirty="0"/>
              <a:t>Demand interval : 60 days</a:t>
            </a:r>
          </a:p>
          <a:p>
            <a:r>
              <a:rPr lang="en-US" altLang="ko-KR" sz="2000" dirty="0"/>
              <a:t>Cost per kg : 12,456 $</a:t>
            </a:r>
            <a:endParaRPr lang="ko-KR" altLang="en-US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8291FA-208E-48BB-8F86-1E4A5156FD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5536" y="2945482"/>
            <a:ext cx="4956042" cy="27877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98706F-3441-4501-B133-CD7EE264A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14714" y="1484784"/>
            <a:ext cx="3514570" cy="24584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41C222-1139-4870-889E-14908DE3CE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65545" y="4070598"/>
            <a:ext cx="3478858" cy="193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00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37911-09A6-40B4-9E93-BF255D79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Studies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F19A9-8FE1-4198-B4EA-77AACDCB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9288D-2E4C-468E-99DB-3706AC32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27</a:t>
            </a:fld>
            <a:endParaRPr lang="ko-KR" altLang="en-US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43AD363F-5232-4720-B45A-6FC3FB085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857325"/>
              </p:ext>
            </p:extLst>
          </p:nvPr>
        </p:nvGraphicFramePr>
        <p:xfrm>
          <a:off x="1619672" y="2492896"/>
          <a:ext cx="6120681" cy="24482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0227">
                  <a:extLst>
                    <a:ext uri="{9D8B030D-6E8A-4147-A177-3AD203B41FA5}">
                      <a16:colId xmlns:a16="http://schemas.microsoft.com/office/drawing/2014/main" val="3519363199"/>
                    </a:ext>
                  </a:extLst>
                </a:gridCol>
                <a:gridCol w="2040227">
                  <a:extLst>
                    <a:ext uri="{9D8B030D-6E8A-4147-A177-3AD203B41FA5}">
                      <a16:colId xmlns:a16="http://schemas.microsoft.com/office/drawing/2014/main" val="3371798136"/>
                    </a:ext>
                  </a:extLst>
                </a:gridCol>
                <a:gridCol w="2040227">
                  <a:extLst>
                    <a:ext uri="{9D8B030D-6E8A-4147-A177-3AD203B41FA5}">
                      <a16:colId xmlns:a16="http://schemas.microsoft.com/office/drawing/2014/main" val="3409526864"/>
                    </a:ext>
                  </a:extLst>
                </a:gridCol>
              </a:tblGrid>
              <a:tr h="8160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 per kg($/kg)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LEO-&gt;GEO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GTO-&gt;GEO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144216"/>
                  </a:ext>
                </a:extLst>
              </a:tr>
              <a:tr h="8160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6years, 75t/year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21,449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15,935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966190"/>
                  </a:ext>
                </a:extLst>
              </a:tr>
              <a:tr h="8160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10years, 100t/year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15,669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12,456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81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644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37911-09A6-40B4-9E93-BF255D79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Works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4D57EC-87EB-4584-8D18-901DBE120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Various demand scenarios</a:t>
            </a:r>
          </a:p>
          <a:p>
            <a:pPr lvl="1"/>
            <a:r>
              <a:rPr lang="en-US" altLang="ko-KR" sz="1600" dirty="0"/>
              <a:t>Payload demand beyond GEO</a:t>
            </a:r>
          </a:p>
          <a:p>
            <a:pPr lvl="1"/>
            <a:r>
              <a:rPr lang="en-US" altLang="ko-KR" sz="1600" dirty="0"/>
              <a:t>More complex demand profiles</a:t>
            </a:r>
          </a:p>
          <a:p>
            <a:pPr lvl="1"/>
            <a:endParaRPr lang="en-US" altLang="ko-KR" sz="1600" dirty="0"/>
          </a:p>
          <a:p>
            <a:r>
              <a:rPr lang="en-US" altLang="ko-KR" sz="2000" dirty="0"/>
              <a:t>Vehicle design optimization</a:t>
            </a:r>
          </a:p>
          <a:p>
            <a:pPr lvl="1"/>
            <a:r>
              <a:rPr lang="en-US" altLang="ko-KR" sz="1600" dirty="0"/>
              <a:t>OTV and RT sizing as decision variables</a:t>
            </a:r>
          </a:p>
          <a:p>
            <a:endParaRPr lang="en-US" altLang="ko-KR" sz="2000" dirty="0"/>
          </a:p>
          <a:p>
            <a:r>
              <a:rPr lang="en-US" altLang="ko-KR" sz="2000" dirty="0"/>
              <a:t>More trajectory options</a:t>
            </a:r>
          </a:p>
          <a:p>
            <a:pPr lvl="1"/>
            <a:r>
              <a:rPr lang="en-US" altLang="ko-KR" sz="1600" dirty="0"/>
              <a:t>BLT trajectory, aero braking for return to low orbits etc..</a:t>
            </a:r>
          </a:p>
          <a:p>
            <a:endParaRPr lang="en-US" altLang="ko-KR" sz="2000" dirty="0"/>
          </a:p>
          <a:p>
            <a:r>
              <a:rPr lang="en-US" altLang="ko-KR" sz="2000" dirty="0"/>
              <a:t>Sensitivity analysis</a:t>
            </a:r>
          </a:p>
          <a:p>
            <a:pPr marL="0" indent="0">
              <a:buNone/>
            </a:pPr>
            <a:endParaRPr lang="en-US" altLang="ko-KR" sz="2000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F19A9-8FE1-4198-B4EA-77AACDCB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text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9288D-2E4C-468E-99DB-3706AC32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560BD6D9-66B7-43E0-9871-9B378EB1F2DE}" type="slidenum">
              <a:rPr lang="ko-KR" altLang="en-US" smtClean="0"/>
              <a:pPr algn="r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2132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	Thank You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1074347"/>
      </p:ext>
    </p:extLst>
  </p:cSld>
  <p:clrMapOvr>
    <a:masterClrMapping/>
  </p:clrMapOvr>
</p:sld>
</file>

<file path=ppt/theme/theme1.xml><?xml version="1.0" encoding="utf-8"?>
<a:theme xmlns:a="http://schemas.openxmlformats.org/drawingml/2006/main" name="SAI Theme v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sertTheme">
  <a:themeElements>
    <a:clrScheme name="ins">
      <a:dk1>
        <a:srgbClr val="1A1A1A"/>
      </a:dk1>
      <a:lt1>
        <a:srgbClr val="FFFFFF"/>
      </a:lt1>
      <a:dk2>
        <a:srgbClr val="1F4E79"/>
      </a:dk2>
      <a:lt2>
        <a:srgbClr val="F2F2F2"/>
      </a:lt2>
      <a:accent1>
        <a:srgbClr val="1F4E79"/>
      </a:accent1>
      <a:accent2>
        <a:srgbClr val="2E7D32"/>
      </a:accent2>
      <a:accent3>
        <a:srgbClr val="C55A11"/>
      </a:accent3>
      <a:accent4>
        <a:srgbClr val="7B1FA2"/>
      </a:accent4>
      <a:accent5>
        <a:srgbClr val="2E75B6"/>
      </a:accent5>
      <a:accent6>
        <a:srgbClr val="8C8C8C"/>
      </a:accent6>
      <a:hlink>
        <a:srgbClr val="0563C1"/>
      </a:hlink>
      <a:folHlink>
        <a:srgbClr val="954F72"/>
      </a:folHlink>
    </a:clrScheme>
    <a:fontScheme name="i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in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09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4990E0-1E18-440B-A9EE-2BBCD3A56289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6767b2fc-5f67-41e1-b801-8328f8867fe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76424</TotalTime>
  <Words>3298</Words>
  <Application>Microsoft Office PowerPoint</Application>
  <PresentationFormat>화면 슬라이드 쇼(4:3)</PresentationFormat>
  <Paragraphs>467</Paragraphs>
  <Slides>29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29</vt:i4>
      </vt:variant>
    </vt:vector>
  </HeadingPairs>
  <TitlesOfParts>
    <vt:vector size="40" baseType="lpstr">
      <vt:lpstr>Charis SIL</vt:lpstr>
      <vt:lpstr>맑은 고딕</vt:lpstr>
      <vt:lpstr>Arial</vt:lpstr>
      <vt:lpstr>Calibri</vt:lpstr>
      <vt:lpstr>Cambria Math</vt:lpstr>
      <vt:lpstr>Consolas</vt:lpstr>
      <vt:lpstr>Eras Demi ITC</vt:lpstr>
      <vt:lpstr>Eras Medium ITC</vt:lpstr>
      <vt:lpstr>Montserrat</vt:lpstr>
      <vt:lpstr>SAI Theme v1</vt:lpstr>
      <vt:lpstr>InsertTheme</vt:lpstr>
      <vt:lpstr>Lunar ISRU supported Orbit Transportation Logistics</vt:lpstr>
      <vt:lpstr>Contents</vt:lpstr>
      <vt:lpstr>Background</vt:lpstr>
      <vt:lpstr>Background</vt:lpstr>
      <vt:lpstr>Background</vt:lpstr>
      <vt:lpstr>Literature Review</vt:lpstr>
      <vt:lpstr>Literature Review</vt:lpstr>
      <vt:lpstr>Literature Review</vt:lpstr>
      <vt:lpstr>Literature Review</vt:lpstr>
      <vt:lpstr>Research Questions</vt:lpstr>
      <vt:lpstr>Implementation - OTV</vt:lpstr>
      <vt:lpstr>Implementation</vt:lpstr>
      <vt:lpstr>Implementation - Objective</vt:lpstr>
      <vt:lpstr>Implementation – Decision Variables</vt:lpstr>
      <vt:lpstr>Implementation - Constraints</vt:lpstr>
      <vt:lpstr>Implementation - Constraints</vt:lpstr>
      <vt:lpstr>Implementation - Constraints</vt:lpstr>
      <vt:lpstr>Implementation - Constraints</vt:lpstr>
      <vt:lpstr>Implementation - Constraints</vt:lpstr>
      <vt:lpstr>Case Studies</vt:lpstr>
      <vt:lpstr>Case Studies - Sweep</vt:lpstr>
      <vt:lpstr>Case Studies</vt:lpstr>
      <vt:lpstr>Case Studies – LEO to GEO</vt:lpstr>
      <vt:lpstr>Case Studies – LEO to GEO</vt:lpstr>
      <vt:lpstr>Case Studies – GTO to GEO</vt:lpstr>
      <vt:lpstr>Case Studies – GTO to GEO</vt:lpstr>
      <vt:lpstr>Case Studies</vt:lpstr>
      <vt:lpstr>Future Works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Jaemyung Ahn</dc:creator>
  <cp:lastModifiedBy>예닮 정</cp:lastModifiedBy>
  <cp:revision>1352</cp:revision>
  <dcterms:created xsi:type="dcterms:W3CDTF">2011-08-28T02:45:21Z</dcterms:created>
  <dcterms:modified xsi:type="dcterms:W3CDTF">2026-07-22T14:57:06Z</dcterms:modified>
</cp:coreProperties>
</file>